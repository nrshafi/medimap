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78" autoAdjust="0"/>
  </p:normalViewPr>
  <p:slideViewPr>
    <p:cSldViewPr snapToGrid="0">
      <p:cViewPr varScale="1">
        <p:scale>
          <a:sx n="100" d="100"/>
          <a:sy n="100" d="100"/>
        </p:scale>
        <p:origin x="9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Introduce </a:t>
            </a:r>
            <a:r>
              <a:rPr dirty="0" err="1"/>
              <a:t>MediMap</a:t>
            </a:r>
            <a:r>
              <a:rPr dirty="0"/>
              <a:t> as a planned diagnostic-service comparison platform for Dhaka. The repository currently contains project requirements and architecture decisions. The application is not yet implemented. The cover image is an AI-generated conceptual illustration, not a real hospital or product screenshot.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MediMap</a:t>
            </a:r>
            <a:r>
              <a:rPr dirty="0"/>
              <a:t> connects provider-specific names and abbreviations to a canonical diagnostic-service catalog. The release target covers ten hospitals, their Dhaka branches and all in-scope diagnostic services. This is a dataset target, not a completed dataset. Prices apply to specific branches and show their sources and verification dates. Browsing is public; reviews require an account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is that service names, price records and branch details need a common structure before users can compare providers. For example, CBC must resolve to Complete Blood Count. The location filter uses straight-line distance; road travel estimates are separate values. Default statistics use one eligible verified price per active branch-service listing, with at least three eligible branches. Missing prices and travel estimates remain unknown. Reports trigger administrator review rather than direct public edits.</a:t>
            </a:r>
          </a:p>
          <a:p>
            <a:endParaRPr/>
          </a:p>
          <a:p>
            <a:r>
              <a:t>Sources</a:t>
            </a:r>
          </a:p>
          <a:p>
            <a:r>
              <a:t>I:/Development/MediMap/context/project-overview.md</a:t>
            </a:r>
          </a:p>
          <a:p>
            <a:r>
              <a:t>I:/Development/MediMap/context/architecture.md</a:t>
            </a:r>
          </a:p>
          <a:p>
            <a:r>
              <a:t>I:/Development/MediMap/context/code-standards.md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selected technologies for future implementation, not an installed stack. Public service and branch pages will use server rendering. The single Workers application will keep public pages, administration, database access and external integrations in separate modules. The browser must not access D1 or receive server secrets. Mapping and routing providers still need research. Hono is optional. Google sign-in is selected, but session implementation is unresolved.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explains the fit of the already selected stack. Alternatives are comparison points, not completed experiments or performance benchmarks. React with </a:t>
            </a:r>
            <a:r>
              <a:rPr dirty="0" err="1"/>
              <a:t>TanStack</a:t>
            </a:r>
            <a:r>
              <a:rPr dirty="0"/>
              <a:t> Start supports the chosen server-rendering approach, and Cloudflare documents its Workers deployment path. A single deployment avoids introducing a separate application server into the selected architecture. SQL fits the documented entity relationships. Direct SQL follows the explicit no-ORM-by-default decision. Cloudflare free-tier suitability remains unverified, and no cost or performance advantage has been measured.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commit evidence comes from the local Git repository inspected on 13 October 2026. git rev-list --count HEAD returned 2. git log -2 showed the full hashes, dates and messages. git show --name-only 62dc724 confirmed the PRD, six context documents and AGENTS.md in that commit. This does not establish completed application functionality or remotely published work. The repository remote is https://github.com/nrshafi/MediMap.git. Full hashes are listed below for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E62FE84-6AE9-4FB7-A0A6-293BBDA20E6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78766A03-E61E-4AA1-AEDA-808F301480C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BA09E6D-7C65-45B5-98A5-5BB3A4F946B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1A1360-8A8D-4FBD-B127-3939E21F0B4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0090398-A45F-4F8C-86B6-2B03770E3ED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CE39C03-2BE6-4C07-A10E-98190D87C1C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0B2C4AE-AA3A-49CF-B631-86F0DC785D2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403E5F9-31C1-49DF-A186-AAF7EC7A524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F44894-7447-476B-BDC8-D92F3194DF7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D385DD8-10D3-405B-A520-459788A64A3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nrshafi/MediMap/commit/4977f1c740ed85f56e2c24e24a6763c9b736630c"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hyperlink" Target="https://github.com/nrshafi/MediMap/commit/62dc724e35fd0833cb530b39718a3cc64867f4c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3D3E"/>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6FC08A-BF81-4241-A7C4-4D0278BA0A31}"/>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MediMap">
            <a:extLst>
              <a:ext uri="{FF2B5EF4-FFF2-40B4-BE49-F238E27FC236}">
                <a16:creationId xmlns:a16="http://schemas.microsoft.com/office/drawing/2014/main" id="{2651855E-D013-442A-8406-9D2A9E7931F9}"/>
              </a:ext>
            </a:extLst>
          </p:cNvPr>
          <p:cNvSpPr>
            <a:spLocks noGrp="1"/>
          </p:cNvSpPr>
          <p:nvPr/>
        </p:nvSpPr>
        <p:spPr>
          <a:xfrm>
            <a:off x="523875" y="2095500"/>
            <a:ext cx="5905500" cy="952500"/>
          </a:xfrm>
          <a:prstGeom prst="rect">
            <a:avLst/>
          </a:prstGeom>
          <a:noFill/>
          <a:ln w="0">
            <a:noFill/>
          </a:ln>
        </p:spPr>
        <p:txBody>
          <a:bodyPr wrap="square" lIns="0" tIns="0" rIns="0" bIns="0" anchor="t">
            <a:noAutofit/>
          </a:bodyPr>
          <a:lstStyle>
            <a:defPPr>
              <a:defRPr sz="6300" b="1">
                <a:solidFill>
                  <a:srgbClr val="FFFFFF"/>
                </a:solidFill>
                <a:latin typeface="Arial"/>
                <a:ea typeface="Arial"/>
                <a:cs typeface="Arial"/>
              </a:defRPr>
            </a:defPPr>
          </a:lstStyle>
          <a:p>
            <a:pPr>
              <a:defRPr sz="6300" b="1">
                <a:solidFill>
                  <a:srgbClr val="FFFFFF"/>
                </a:solidFill>
                <a:latin typeface="Arial"/>
                <a:ea typeface="Arial"/>
                <a:cs typeface="Arial"/>
              </a:defRPr>
            </a:pPr>
            <a:r>
              <a:rPr sz="6300" b="1" dirty="0" err="1">
                <a:solidFill>
                  <a:srgbClr val="FFFFFF"/>
                </a:solidFill>
                <a:latin typeface="Arial"/>
                <a:ea typeface="Arial"/>
                <a:cs typeface="Arial"/>
              </a:rPr>
              <a:t>MediMap</a:t>
            </a:r>
            <a:endParaRPr sz="6300" b="1" dirty="0">
              <a:solidFill>
                <a:srgbClr val="FFFFFF"/>
              </a:solidFill>
              <a:latin typeface="Arial"/>
              <a:ea typeface="Arial"/>
              <a:cs typeface="Arial"/>
            </a:endParaRPr>
          </a:p>
        </p:txBody>
      </p:sp>
      <p:sp>
        <p:nvSpPr>
          <p:cNvPr id="3" name="Diagnostic service discovery&#10;and price compar">
            <a:extLst>
              <a:ext uri="{FF2B5EF4-FFF2-40B4-BE49-F238E27FC236}">
                <a16:creationId xmlns:a16="http://schemas.microsoft.com/office/drawing/2014/main" id="{E84BA6EC-C240-47B1-8E06-72E4D27CCAC8}"/>
              </a:ext>
            </a:extLst>
          </p:cNvPr>
          <p:cNvSpPr>
            <a:spLocks noGrp="1"/>
          </p:cNvSpPr>
          <p:nvPr/>
        </p:nvSpPr>
        <p:spPr>
          <a:xfrm>
            <a:off x="523875" y="3124200"/>
            <a:ext cx="5657850" cy="1219200"/>
          </a:xfrm>
          <a:prstGeom prst="rect">
            <a:avLst/>
          </a:prstGeom>
          <a:noFill/>
          <a:ln w="0">
            <a:noFill/>
          </a:ln>
        </p:spPr>
        <p:txBody>
          <a:bodyPr wrap="square" lIns="0" tIns="0" rIns="0" bIns="0" anchor="t">
            <a:noAutofit/>
          </a:bodyPr>
          <a:lstStyle>
            <a:defPPr>
              <a:defRPr sz="2550" b="0">
                <a:solidFill>
                  <a:srgbClr val="FFFFFF"/>
                </a:solidFill>
                <a:latin typeface="Arial"/>
                <a:ea typeface="Arial"/>
                <a:cs typeface="Arial"/>
              </a:defRPr>
            </a:defPPr>
          </a:lstStyle>
          <a:p>
            <a:pPr>
              <a:defRPr sz="2550" b="0">
                <a:solidFill>
                  <a:srgbClr val="FFFFFF"/>
                </a:solidFill>
                <a:latin typeface="Arial"/>
                <a:ea typeface="Arial"/>
                <a:cs typeface="Arial"/>
              </a:defRPr>
            </a:pPr>
            <a:r>
              <a:rPr sz="2550" b="0" dirty="0">
                <a:solidFill>
                  <a:srgbClr val="FFFFFF"/>
                </a:solidFill>
                <a:latin typeface="Arial"/>
                <a:ea typeface="Arial"/>
                <a:cs typeface="Arial"/>
              </a:rPr>
              <a:t>Diagnostic service discovery</a:t>
            </a:r>
          </a:p>
          <a:p>
            <a:pPr>
              <a:defRPr sz="2550" b="0">
                <a:solidFill>
                  <a:srgbClr val="FFFFFF"/>
                </a:solidFill>
                <a:latin typeface="Arial"/>
                <a:ea typeface="Arial"/>
                <a:cs typeface="Arial"/>
              </a:defRPr>
            </a:pPr>
            <a:r>
              <a:rPr sz="2550" b="0" dirty="0">
                <a:solidFill>
                  <a:srgbClr val="FFFFFF"/>
                </a:solidFill>
                <a:latin typeface="Arial"/>
                <a:ea typeface="Arial"/>
                <a:cs typeface="Arial"/>
              </a:rPr>
              <a:t>and price comparison in Dhaka</a:t>
            </a:r>
          </a:p>
        </p:txBody>
      </p:sp>
      <p:sp>
        <p:nvSpPr>
          <p:cNvPr id="5" name="13 October 2026">
            <a:extLst>
              <a:ext uri="{FF2B5EF4-FFF2-40B4-BE49-F238E27FC236}">
                <a16:creationId xmlns:a16="http://schemas.microsoft.com/office/drawing/2014/main" id="{377C94C9-925F-4F00-9ADF-3DD6768AA1AD}"/>
              </a:ext>
            </a:extLst>
          </p:cNvPr>
          <p:cNvSpPr>
            <a:spLocks noGrp="1"/>
          </p:cNvSpPr>
          <p:nvPr/>
        </p:nvSpPr>
        <p:spPr>
          <a:xfrm>
            <a:off x="647700" y="438150"/>
            <a:ext cx="4286250" cy="285750"/>
          </a:xfrm>
          <a:prstGeom prst="rect">
            <a:avLst/>
          </a:prstGeom>
          <a:noFill/>
          <a:ln w="0">
            <a:noFill/>
          </a:ln>
        </p:spPr>
        <p:txBody>
          <a:bodyPr wrap="square" lIns="0" tIns="0" rIns="0" bIns="0" anchor="t">
            <a:noAutofit/>
          </a:bodyPr>
          <a:lstStyle>
            <a:defPPr>
              <a:defRPr sz="1500" b="0">
                <a:solidFill>
                  <a:srgbClr val="B4E5D6"/>
                </a:solidFill>
                <a:latin typeface="Arial"/>
                <a:ea typeface="Arial"/>
                <a:cs typeface="Arial"/>
              </a:defRPr>
            </a:defPPr>
          </a:lstStyle>
          <a:p>
            <a:pPr>
              <a:defRPr sz="1500" b="0">
                <a:solidFill>
                  <a:srgbClr val="B4E5D6"/>
                </a:solidFill>
                <a:latin typeface="Arial"/>
                <a:ea typeface="Arial"/>
                <a:cs typeface="Arial"/>
              </a:defRPr>
            </a:pPr>
            <a:r>
              <a:rPr sz="1500" b="0" dirty="0">
                <a:solidFill>
                  <a:srgbClr val="B4E5D6"/>
                </a:solidFill>
                <a:latin typeface="Arial"/>
                <a:ea typeface="Arial"/>
                <a:cs typeface="Arial"/>
              </a:rPr>
              <a:t>1</a:t>
            </a:r>
            <a:r>
              <a:rPr lang="en-US" sz="1500" b="0" dirty="0">
                <a:solidFill>
                  <a:srgbClr val="B4E5D6"/>
                </a:solidFill>
                <a:latin typeface="Arial"/>
                <a:ea typeface="Arial"/>
                <a:cs typeface="Arial"/>
              </a:rPr>
              <a:t>4</a:t>
            </a:r>
            <a:r>
              <a:rPr sz="1500" b="0" dirty="0">
                <a:solidFill>
                  <a:srgbClr val="B4E5D6"/>
                </a:solidFill>
                <a:latin typeface="Arial"/>
                <a:ea typeface="Arial"/>
                <a:cs typeface="Arial"/>
              </a:rPr>
              <a:t> October 2026</a:t>
            </a:r>
          </a:p>
        </p:txBody>
      </p:sp>
    </p:spTree>
    <p:extLst>
      <p:ext uri="{BB962C8B-B14F-4D97-AF65-F5344CB8AC3E}">
        <p14:creationId xmlns:p14="http://schemas.microsoft.com/office/powerpoint/2010/main" val="177805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ject description">
            <a:extLst>
              <a:ext uri="{FF2B5EF4-FFF2-40B4-BE49-F238E27FC236}">
                <a16:creationId xmlns:a16="http://schemas.microsoft.com/office/drawing/2014/main" id="{F402DAAE-3777-444E-9CD2-DC0627DC1DFC}"/>
              </a:ext>
            </a:extLst>
          </p:cNvPr>
          <p:cNvSpPr>
            <a:spLocks noGrp="1"/>
          </p:cNvSpPr>
          <p:nvPr/>
        </p:nvSpPr>
        <p:spPr>
          <a:xfrm>
            <a:off x="609600" y="495300"/>
            <a:ext cx="10972800" cy="742950"/>
          </a:xfrm>
          <a:prstGeom prst="rect">
            <a:avLst/>
          </a:prstGeom>
          <a:noFill/>
          <a:ln w="0">
            <a:noFill/>
          </a:ln>
        </p:spPr>
        <p:txBody>
          <a:bodyPr wrap="square" lIns="0" tIns="0" rIns="0" bIns="0" anchor="t">
            <a:noAutofit/>
          </a:bodyPr>
          <a:lstStyle>
            <a:defPPr>
              <a:defRPr sz="3450" b="1">
                <a:solidFill>
                  <a:srgbClr val="123D3D"/>
                </a:solidFill>
                <a:latin typeface="Arial"/>
                <a:ea typeface="Arial"/>
                <a:cs typeface="Arial"/>
              </a:defRPr>
            </a:defPPr>
          </a:lstStyle>
          <a:p>
            <a:pPr>
              <a:defRPr sz="3450" b="1">
                <a:solidFill>
                  <a:srgbClr val="123D3D"/>
                </a:solidFill>
                <a:latin typeface="Arial"/>
                <a:ea typeface="Arial"/>
                <a:cs typeface="Arial"/>
              </a:defRPr>
            </a:pPr>
            <a:r>
              <a:rPr sz="3450" b="1">
                <a:solidFill>
                  <a:srgbClr val="123D3D"/>
                </a:solidFill>
                <a:latin typeface="Arial"/>
                <a:ea typeface="Arial"/>
                <a:cs typeface="Arial"/>
              </a:rPr>
              <a:t>Project description</a:t>
            </a:r>
          </a:p>
        </p:txBody>
      </p:sp>
      <p:sp>
        <p:nvSpPr>
          <p:cNvPr id="2" name="02">
            <a:extLst>
              <a:ext uri="{FF2B5EF4-FFF2-40B4-BE49-F238E27FC236}">
                <a16:creationId xmlns:a16="http://schemas.microsoft.com/office/drawing/2014/main" id="{81CE0ACD-D0AC-479F-8A94-AB2D928C9504}"/>
              </a:ext>
            </a:extLst>
          </p:cNvPr>
          <p:cNvSpPr>
            <a:spLocks noGrp="1"/>
          </p:cNvSpPr>
          <p:nvPr/>
        </p:nvSpPr>
        <p:spPr>
          <a:xfrm>
            <a:off x="11049000" y="6296025"/>
            <a:ext cx="533400" cy="228600"/>
          </a:xfrm>
          <a:prstGeom prst="rect">
            <a:avLst/>
          </a:prstGeom>
          <a:noFill/>
          <a:ln w="0">
            <a:noFill/>
          </a:ln>
        </p:spPr>
        <p:txBody>
          <a:bodyPr wrap="square" lIns="0" tIns="0" rIns="0" bIns="0" anchor="t">
            <a:noAutofit/>
          </a:bodyPr>
          <a:lstStyle>
            <a:defPPr>
              <a:defRPr sz="1275" b="0">
                <a:solidFill>
                  <a:srgbClr val="526C6C"/>
                </a:solidFill>
                <a:latin typeface="Arial"/>
                <a:ea typeface="Arial"/>
                <a:cs typeface="Arial"/>
              </a:defRPr>
            </a:defPPr>
          </a:lstStyle>
          <a:p>
            <a:pPr>
              <a:defRPr sz="1275" b="0">
                <a:solidFill>
                  <a:srgbClr val="526C6C"/>
                </a:solidFill>
                <a:latin typeface="Arial"/>
                <a:ea typeface="Arial"/>
                <a:cs typeface="Arial"/>
              </a:defRPr>
            </a:pPr>
            <a:r>
              <a:rPr sz="1275" b="0">
                <a:solidFill>
                  <a:srgbClr val="526C6C"/>
                </a:solidFill>
                <a:latin typeface="Arial"/>
                <a:ea typeface="Arial"/>
                <a:cs typeface="Arial"/>
              </a:rPr>
              <a:t>02</a:t>
            </a:r>
          </a:p>
        </p:txBody>
      </p:sp>
      <p:sp>
        <p:nvSpPr>
          <p:cNvPr id="3" name="Compare the same diagnostic service across Dh">
            <a:extLst>
              <a:ext uri="{FF2B5EF4-FFF2-40B4-BE49-F238E27FC236}">
                <a16:creationId xmlns:a16="http://schemas.microsoft.com/office/drawing/2014/main" id="{30F48FB7-7603-48F1-B86C-19551B1EC4E9}"/>
              </a:ext>
            </a:extLst>
          </p:cNvPr>
          <p:cNvSpPr>
            <a:spLocks noGrp="1"/>
          </p:cNvSpPr>
          <p:nvPr/>
        </p:nvSpPr>
        <p:spPr>
          <a:xfrm>
            <a:off x="609599" y="1428750"/>
            <a:ext cx="11077575" cy="857250"/>
          </a:xfrm>
          <a:prstGeom prst="rect">
            <a:avLst/>
          </a:prstGeom>
          <a:noFill/>
          <a:ln w="0">
            <a:noFill/>
          </a:ln>
        </p:spPr>
        <p:txBody>
          <a:bodyPr wrap="square" lIns="0" tIns="0" rIns="0" bIns="0" anchor="t">
            <a:noAutofit/>
          </a:bodyPr>
          <a:lstStyle>
            <a:defPPr>
              <a:defRPr sz="2475" b="0">
                <a:solidFill>
                  <a:srgbClr val="123D3D"/>
                </a:solidFill>
                <a:latin typeface="Arial"/>
                <a:ea typeface="Arial"/>
                <a:cs typeface="Arial"/>
              </a:defRPr>
            </a:defPPr>
          </a:lstStyle>
          <a:p>
            <a:pPr>
              <a:defRPr sz="2475" b="0">
                <a:solidFill>
                  <a:srgbClr val="123D3D"/>
                </a:solidFill>
                <a:latin typeface="Arial"/>
                <a:ea typeface="Arial"/>
                <a:cs typeface="Arial"/>
              </a:defRPr>
            </a:pPr>
            <a:r>
              <a:rPr sz="2475" b="0" dirty="0">
                <a:solidFill>
                  <a:srgbClr val="123D3D"/>
                </a:solidFill>
                <a:latin typeface="Arial"/>
                <a:ea typeface="Arial"/>
                <a:cs typeface="Arial"/>
              </a:rPr>
              <a:t>Compare the same diagnostic service across Dhaka branches</a:t>
            </a:r>
          </a:p>
          <a:p>
            <a:pPr>
              <a:defRPr sz="2475" b="0">
                <a:solidFill>
                  <a:srgbClr val="123D3D"/>
                </a:solidFill>
                <a:latin typeface="Arial"/>
                <a:ea typeface="Arial"/>
                <a:cs typeface="Arial"/>
              </a:defRPr>
            </a:pPr>
            <a:r>
              <a:rPr sz="2475" b="0" dirty="0">
                <a:solidFill>
                  <a:srgbClr val="123D3D"/>
                </a:solidFill>
                <a:latin typeface="Arial"/>
                <a:ea typeface="Arial"/>
                <a:cs typeface="Arial"/>
              </a:rPr>
              <a:t>before contacting a provider.</a:t>
            </a:r>
          </a:p>
        </p:txBody>
      </p:sp>
      <p:sp>
        <p:nvSpPr>
          <p:cNvPr id="4" name="10">
            <a:extLst>
              <a:ext uri="{FF2B5EF4-FFF2-40B4-BE49-F238E27FC236}">
                <a16:creationId xmlns:a16="http://schemas.microsoft.com/office/drawing/2014/main" id="{E6AEC22D-36C6-47ED-BD57-C6509ADEA25B}"/>
              </a:ext>
            </a:extLst>
          </p:cNvPr>
          <p:cNvSpPr>
            <a:spLocks noGrp="1"/>
          </p:cNvSpPr>
          <p:nvPr/>
        </p:nvSpPr>
        <p:spPr>
          <a:xfrm>
            <a:off x="609600" y="2676525"/>
            <a:ext cx="2143125" cy="1143000"/>
          </a:xfrm>
          <a:prstGeom prst="rect">
            <a:avLst/>
          </a:prstGeom>
          <a:noFill/>
          <a:ln w="0">
            <a:noFill/>
          </a:ln>
        </p:spPr>
        <p:txBody>
          <a:bodyPr wrap="square" lIns="0" tIns="0" rIns="0" bIns="0" anchor="t">
            <a:noAutofit/>
          </a:bodyPr>
          <a:lstStyle>
            <a:defPPr>
              <a:defRPr sz="7200" b="1">
                <a:solidFill>
                  <a:srgbClr val="087E80"/>
                </a:solidFill>
                <a:latin typeface="Arial"/>
                <a:ea typeface="Arial"/>
                <a:cs typeface="Arial"/>
              </a:defRPr>
            </a:defPPr>
          </a:lstStyle>
          <a:p>
            <a:pPr>
              <a:defRPr sz="7200" b="1">
                <a:solidFill>
                  <a:srgbClr val="087E80"/>
                </a:solidFill>
                <a:latin typeface="Arial"/>
                <a:ea typeface="Arial"/>
                <a:cs typeface="Arial"/>
              </a:defRPr>
            </a:pPr>
            <a:r>
              <a:rPr lang="en-US" sz="7200" b="1" dirty="0">
                <a:solidFill>
                  <a:srgbClr val="087E80"/>
                </a:solidFill>
                <a:latin typeface="Arial"/>
                <a:ea typeface="Arial"/>
                <a:cs typeface="Arial"/>
              </a:rPr>
              <a:t>05</a:t>
            </a:r>
            <a:endParaRPr sz="7200" b="1" dirty="0">
              <a:solidFill>
                <a:srgbClr val="087E80"/>
              </a:solidFill>
              <a:latin typeface="Arial"/>
              <a:ea typeface="Arial"/>
              <a:cs typeface="Arial"/>
            </a:endParaRPr>
          </a:p>
        </p:txBody>
      </p:sp>
      <p:sp>
        <p:nvSpPr>
          <p:cNvPr id="5" name="hospitals in the&#10;planned release dataset">
            <a:extLst>
              <a:ext uri="{FF2B5EF4-FFF2-40B4-BE49-F238E27FC236}">
                <a16:creationId xmlns:a16="http://schemas.microsoft.com/office/drawing/2014/main" id="{7D723756-AD48-4C4F-944A-B4EBB7AEFD0A}"/>
              </a:ext>
            </a:extLst>
          </p:cNvPr>
          <p:cNvSpPr>
            <a:spLocks noGrp="1"/>
          </p:cNvSpPr>
          <p:nvPr/>
        </p:nvSpPr>
        <p:spPr>
          <a:xfrm>
            <a:off x="647700" y="3857625"/>
            <a:ext cx="2857500" cy="781050"/>
          </a:xfrm>
          <a:prstGeom prst="rect">
            <a:avLst/>
          </a:prstGeom>
          <a:noFill/>
          <a:ln w="0">
            <a:noFill/>
          </a:ln>
        </p:spPr>
        <p:txBody>
          <a:bodyPr wrap="square" lIns="0" tIns="0" rIns="0" bIns="0" anchor="t">
            <a:noAutofit/>
          </a:bodyPr>
          <a:lstStyle>
            <a:defPPr>
              <a:defRPr sz="1950" b="0">
                <a:solidFill>
                  <a:srgbClr val="123D3D"/>
                </a:solidFill>
                <a:latin typeface="Arial"/>
                <a:ea typeface="Arial"/>
                <a:cs typeface="Arial"/>
              </a:defRPr>
            </a:defPPr>
          </a:lstStyle>
          <a:p>
            <a:pPr>
              <a:defRPr sz="1950" b="0">
                <a:solidFill>
                  <a:srgbClr val="123D3D"/>
                </a:solidFill>
                <a:latin typeface="Arial"/>
                <a:ea typeface="Arial"/>
                <a:cs typeface="Arial"/>
              </a:defRPr>
            </a:pPr>
            <a:r>
              <a:rPr sz="1950" b="0" dirty="0">
                <a:solidFill>
                  <a:srgbClr val="123D3D"/>
                </a:solidFill>
                <a:latin typeface="Arial"/>
                <a:ea typeface="Arial"/>
                <a:cs typeface="Arial"/>
              </a:rPr>
              <a:t>hospitals in the</a:t>
            </a:r>
          </a:p>
          <a:p>
            <a:pPr>
              <a:defRPr sz="1950" b="0">
                <a:solidFill>
                  <a:srgbClr val="123D3D"/>
                </a:solidFill>
                <a:latin typeface="Arial"/>
                <a:ea typeface="Arial"/>
                <a:cs typeface="Arial"/>
              </a:defRPr>
            </a:pPr>
            <a:r>
              <a:rPr sz="1950" b="0" dirty="0">
                <a:solidFill>
                  <a:srgbClr val="123D3D"/>
                </a:solidFill>
                <a:latin typeface="Arial"/>
                <a:ea typeface="Arial"/>
                <a:cs typeface="Arial"/>
              </a:rPr>
              <a:t>planned release dataset</a:t>
            </a:r>
          </a:p>
        </p:txBody>
      </p:sp>
      <p:sp>
        <p:nvSpPr>
          <p:cNvPr id="6" name="For patients, caregivers and healthcare profe">
            <a:extLst>
              <a:ext uri="{FF2B5EF4-FFF2-40B4-BE49-F238E27FC236}">
                <a16:creationId xmlns:a16="http://schemas.microsoft.com/office/drawing/2014/main" id="{E1715609-1D44-4766-98CD-AB220A65ACCF}"/>
              </a:ext>
            </a:extLst>
          </p:cNvPr>
          <p:cNvSpPr>
            <a:spLocks noGrp="1"/>
          </p:cNvSpPr>
          <p:nvPr/>
        </p:nvSpPr>
        <p:spPr>
          <a:xfrm>
            <a:off x="4019550" y="2724150"/>
            <a:ext cx="7286625" cy="666750"/>
          </a:xfrm>
          <a:prstGeom prst="rect">
            <a:avLst/>
          </a:prstGeom>
          <a:noFill/>
          <a:ln w="0">
            <a:noFill/>
          </a:ln>
        </p:spPr>
        <p:txBody>
          <a:bodyPr wrap="square" lIns="0" tIns="0" rIns="0" bIns="0" anchor="t">
            <a:noAutofit/>
          </a:bodyPr>
          <a:lstStyle>
            <a:defPPr>
              <a:defRPr sz="2250" b="1">
                <a:solidFill>
                  <a:srgbClr val="123D3D"/>
                </a:solidFill>
                <a:latin typeface="Arial"/>
                <a:ea typeface="Arial"/>
                <a:cs typeface="Arial"/>
              </a:defRPr>
            </a:defPPr>
          </a:lstStyle>
          <a:p>
            <a:pPr>
              <a:defRPr sz="2250" b="1">
                <a:solidFill>
                  <a:srgbClr val="123D3D"/>
                </a:solidFill>
                <a:latin typeface="Arial"/>
                <a:ea typeface="Arial"/>
                <a:cs typeface="Arial"/>
              </a:defRPr>
            </a:pPr>
            <a:r>
              <a:rPr sz="2250" b="1">
                <a:solidFill>
                  <a:srgbClr val="123D3D"/>
                </a:solidFill>
                <a:latin typeface="Arial"/>
                <a:ea typeface="Arial"/>
                <a:cs typeface="Arial"/>
              </a:rPr>
              <a:t>For patients, caregivers and healthcare professionals</a:t>
            </a:r>
          </a:p>
        </p:txBody>
      </p:sp>
      <p:sp>
        <p:nvSpPr>
          <p:cNvPr id="7" name="Search by service name or alias.&#10;Compare pric">
            <a:extLst>
              <a:ext uri="{FF2B5EF4-FFF2-40B4-BE49-F238E27FC236}">
                <a16:creationId xmlns:a16="http://schemas.microsoft.com/office/drawing/2014/main" id="{1E8B8041-110E-4052-A6A4-3323A492FA0A}"/>
              </a:ext>
            </a:extLst>
          </p:cNvPr>
          <p:cNvSpPr>
            <a:spLocks noGrp="1"/>
          </p:cNvSpPr>
          <p:nvPr/>
        </p:nvSpPr>
        <p:spPr>
          <a:xfrm>
            <a:off x="4019550" y="3609975"/>
            <a:ext cx="7353300" cy="1171575"/>
          </a:xfrm>
          <a:prstGeom prst="rect">
            <a:avLst/>
          </a:prstGeom>
          <a:noFill/>
          <a:ln w="0">
            <a:noFill/>
          </a:ln>
        </p:spPr>
        <p:txBody>
          <a:bodyPr wrap="square" lIns="0" tIns="0" rIns="0" bIns="0" anchor="t">
            <a:noAutofit/>
          </a:bodyPr>
          <a:lstStyle>
            <a:defPPr>
              <a:defRPr sz="2025" b="0">
                <a:solidFill>
                  <a:srgbClr val="526C6C"/>
                </a:solidFill>
                <a:latin typeface="Arial"/>
                <a:ea typeface="Arial"/>
                <a:cs typeface="Arial"/>
              </a:defRPr>
            </a:defPPr>
          </a:lstStyle>
          <a:p>
            <a:pPr>
              <a:defRPr sz="2025" b="0">
                <a:solidFill>
                  <a:srgbClr val="526C6C"/>
                </a:solidFill>
                <a:latin typeface="Arial"/>
                <a:ea typeface="Arial"/>
                <a:cs typeface="Arial"/>
              </a:defRPr>
            </a:pPr>
            <a:r>
              <a:rPr sz="2025" b="0" dirty="0">
                <a:solidFill>
                  <a:srgbClr val="526C6C"/>
                </a:solidFill>
                <a:latin typeface="Arial"/>
                <a:ea typeface="Arial"/>
                <a:cs typeface="Arial"/>
              </a:rPr>
              <a:t>Search by service name or alias.</a:t>
            </a:r>
          </a:p>
          <a:p>
            <a:pPr>
              <a:defRPr sz="2025" b="0">
                <a:solidFill>
                  <a:srgbClr val="526C6C"/>
                </a:solidFill>
                <a:latin typeface="Arial"/>
                <a:ea typeface="Arial"/>
                <a:cs typeface="Arial"/>
              </a:defRPr>
            </a:pPr>
            <a:r>
              <a:rPr sz="2025" b="0" dirty="0">
                <a:solidFill>
                  <a:srgbClr val="526C6C"/>
                </a:solidFill>
                <a:latin typeface="Arial"/>
                <a:ea typeface="Arial"/>
                <a:cs typeface="Arial"/>
              </a:rPr>
              <a:t>Compare prices in BDT, location, travel estimates,</a:t>
            </a:r>
          </a:p>
          <a:p>
            <a:pPr>
              <a:defRPr sz="2025" b="0">
                <a:solidFill>
                  <a:srgbClr val="526C6C"/>
                </a:solidFill>
                <a:latin typeface="Arial"/>
                <a:ea typeface="Arial"/>
                <a:cs typeface="Arial"/>
              </a:defRPr>
            </a:pPr>
            <a:r>
              <a:rPr sz="2025" b="0" dirty="0">
                <a:solidFill>
                  <a:srgbClr val="526C6C"/>
                </a:solidFill>
                <a:latin typeface="Arial"/>
                <a:ea typeface="Arial"/>
                <a:cs typeface="Arial"/>
              </a:rPr>
              <a:t>opening hours and reviews.</a:t>
            </a:r>
          </a:p>
        </p:txBody>
      </p:sp>
      <p:sp>
        <p:nvSpPr>
          <p:cNvPr id="8" name="Browse without an account. Sign in to submit ">
            <a:extLst>
              <a:ext uri="{FF2B5EF4-FFF2-40B4-BE49-F238E27FC236}">
                <a16:creationId xmlns:a16="http://schemas.microsoft.com/office/drawing/2014/main" id="{F220164A-B913-4D20-92E4-C8E9A2609D2B}"/>
              </a:ext>
            </a:extLst>
          </p:cNvPr>
          <p:cNvSpPr>
            <a:spLocks noGrp="1"/>
          </p:cNvSpPr>
          <p:nvPr/>
        </p:nvSpPr>
        <p:spPr>
          <a:xfrm>
            <a:off x="4019550" y="5019675"/>
            <a:ext cx="7334250" cy="476250"/>
          </a:xfrm>
          <a:prstGeom prst="rect">
            <a:avLst/>
          </a:prstGeom>
          <a:noFill/>
          <a:ln w="0">
            <a:noFill/>
          </a:ln>
        </p:spPr>
        <p:txBody>
          <a:bodyPr wrap="square" lIns="0" tIns="0" rIns="0" bIns="0" anchor="t">
            <a:noAutofit/>
          </a:bodyPr>
          <a:lstStyle>
            <a:defPPr>
              <a:defRPr sz="1950" b="0">
                <a:solidFill>
                  <a:srgbClr val="087E80"/>
                </a:solidFill>
                <a:latin typeface="Arial"/>
                <a:ea typeface="Arial"/>
                <a:cs typeface="Arial"/>
              </a:defRPr>
            </a:defPPr>
          </a:lstStyle>
          <a:p>
            <a:pPr>
              <a:defRPr sz="1950" b="0">
                <a:solidFill>
                  <a:srgbClr val="087E80"/>
                </a:solidFill>
                <a:latin typeface="Arial"/>
                <a:ea typeface="Arial"/>
                <a:cs typeface="Arial"/>
              </a:defRPr>
            </a:pPr>
            <a:r>
              <a:rPr sz="1950" b="0">
                <a:solidFill>
                  <a:srgbClr val="087E80"/>
                </a:solidFill>
                <a:latin typeface="Arial"/>
                <a:ea typeface="Arial"/>
                <a:cs typeface="Arial"/>
              </a:rPr>
              <a:t>Browse without an account. Sign in to submit reviews.</a:t>
            </a:r>
          </a:p>
        </p:txBody>
      </p:sp>
      <p:sp>
        <p:nvSpPr>
          <p:cNvPr id="9" name="Scope: diagnostic services in Dhaka. Booking ">
            <a:extLst>
              <a:ext uri="{FF2B5EF4-FFF2-40B4-BE49-F238E27FC236}">
                <a16:creationId xmlns:a16="http://schemas.microsoft.com/office/drawing/2014/main" id="{16CBD8C4-37AB-4C03-973A-AAD94B488A02}"/>
              </a:ext>
            </a:extLst>
          </p:cNvPr>
          <p:cNvSpPr>
            <a:spLocks noGrp="1"/>
          </p:cNvSpPr>
          <p:nvPr/>
        </p:nvSpPr>
        <p:spPr>
          <a:xfrm>
            <a:off x="609600" y="5886450"/>
            <a:ext cx="10572750" cy="342900"/>
          </a:xfrm>
          <a:prstGeom prst="rect">
            <a:avLst/>
          </a:prstGeom>
          <a:noFill/>
          <a:ln w="0">
            <a:noFill/>
          </a:ln>
        </p:spPr>
        <p:txBody>
          <a:bodyPr wrap="square" lIns="0" tIns="0" rIns="0" bIns="0" anchor="t">
            <a:noAutofit/>
          </a:bodyPr>
          <a:lstStyle>
            <a:defPPr>
              <a:defRPr sz="1575" b="0">
                <a:solidFill>
                  <a:srgbClr val="526C6C"/>
                </a:solidFill>
                <a:latin typeface="Arial"/>
                <a:ea typeface="Arial"/>
                <a:cs typeface="Arial"/>
              </a:defRPr>
            </a:defPPr>
          </a:lstStyle>
          <a:p>
            <a:pPr>
              <a:defRPr sz="1575" b="0">
                <a:solidFill>
                  <a:srgbClr val="526C6C"/>
                </a:solidFill>
                <a:latin typeface="Arial"/>
                <a:ea typeface="Arial"/>
                <a:cs typeface="Arial"/>
              </a:defRPr>
            </a:pPr>
            <a:r>
              <a:rPr sz="1575" b="0">
                <a:solidFill>
                  <a:srgbClr val="526C6C"/>
                </a:solidFill>
                <a:latin typeface="Arial"/>
                <a:ea typeface="Arial"/>
                <a:cs typeface="Arial"/>
              </a:rPr>
              <a:t>Scope: diagnostic services in Dhaka. Booking and medical advice are excluded.</a:t>
            </a:r>
          </a:p>
        </p:txBody>
      </p:sp>
    </p:spTree>
    <p:extLst>
      <p:ext uri="{BB962C8B-B14F-4D97-AF65-F5344CB8AC3E}">
        <p14:creationId xmlns:p14="http://schemas.microsoft.com/office/powerpoint/2010/main" val="1423901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roblem-solving approach">
            <a:extLst>
              <a:ext uri="{FF2B5EF4-FFF2-40B4-BE49-F238E27FC236}">
                <a16:creationId xmlns:a16="http://schemas.microsoft.com/office/drawing/2014/main" id="{84094CEE-83B1-4C64-85BF-5D63EC98C17E}"/>
              </a:ext>
            </a:extLst>
          </p:cNvPr>
          <p:cNvSpPr>
            <a:spLocks noGrp="1"/>
          </p:cNvSpPr>
          <p:nvPr/>
        </p:nvSpPr>
        <p:spPr>
          <a:xfrm>
            <a:off x="609600" y="495300"/>
            <a:ext cx="10972800" cy="742950"/>
          </a:xfrm>
          <a:prstGeom prst="rect">
            <a:avLst/>
          </a:prstGeom>
          <a:noFill/>
          <a:ln w="0">
            <a:noFill/>
          </a:ln>
        </p:spPr>
        <p:txBody>
          <a:bodyPr wrap="square" lIns="0" tIns="0" rIns="0" bIns="0" anchor="t">
            <a:noAutofit/>
          </a:bodyPr>
          <a:lstStyle>
            <a:defPPr>
              <a:defRPr sz="3450" b="1">
                <a:solidFill>
                  <a:srgbClr val="123D3D"/>
                </a:solidFill>
                <a:latin typeface="Arial"/>
                <a:ea typeface="Arial"/>
                <a:cs typeface="Arial"/>
              </a:defRPr>
            </a:defPPr>
          </a:lstStyle>
          <a:p>
            <a:pPr>
              <a:defRPr sz="3450" b="1">
                <a:solidFill>
                  <a:srgbClr val="123D3D"/>
                </a:solidFill>
                <a:latin typeface="Arial"/>
                <a:ea typeface="Arial"/>
                <a:cs typeface="Arial"/>
              </a:defRPr>
            </a:pPr>
            <a:r>
              <a:rPr sz="3450" b="1">
                <a:solidFill>
                  <a:srgbClr val="123D3D"/>
                </a:solidFill>
                <a:latin typeface="Arial"/>
                <a:ea typeface="Arial"/>
                <a:cs typeface="Arial"/>
              </a:rPr>
              <a:t>Problem-solving approach</a:t>
            </a:r>
          </a:p>
        </p:txBody>
      </p:sp>
      <p:sp>
        <p:nvSpPr>
          <p:cNvPr id="2" name="03">
            <a:extLst>
              <a:ext uri="{FF2B5EF4-FFF2-40B4-BE49-F238E27FC236}">
                <a16:creationId xmlns:a16="http://schemas.microsoft.com/office/drawing/2014/main" id="{D4DC0D60-0895-4132-AC54-39DB07719831}"/>
              </a:ext>
            </a:extLst>
          </p:cNvPr>
          <p:cNvSpPr>
            <a:spLocks noGrp="1"/>
          </p:cNvSpPr>
          <p:nvPr/>
        </p:nvSpPr>
        <p:spPr>
          <a:xfrm>
            <a:off x="11049000" y="6296025"/>
            <a:ext cx="533400" cy="228600"/>
          </a:xfrm>
          <a:prstGeom prst="rect">
            <a:avLst/>
          </a:prstGeom>
          <a:noFill/>
          <a:ln w="0">
            <a:noFill/>
          </a:ln>
        </p:spPr>
        <p:txBody>
          <a:bodyPr wrap="square" lIns="0" tIns="0" rIns="0" bIns="0" anchor="t">
            <a:noAutofit/>
          </a:bodyPr>
          <a:lstStyle>
            <a:defPPr>
              <a:defRPr sz="1275" b="0">
                <a:solidFill>
                  <a:srgbClr val="526C6C"/>
                </a:solidFill>
                <a:latin typeface="Arial"/>
                <a:ea typeface="Arial"/>
                <a:cs typeface="Arial"/>
              </a:defRPr>
            </a:defPPr>
          </a:lstStyle>
          <a:p>
            <a:pPr>
              <a:defRPr sz="1275" b="0">
                <a:solidFill>
                  <a:srgbClr val="526C6C"/>
                </a:solidFill>
                <a:latin typeface="Arial"/>
                <a:ea typeface="Arial"/>
                <a:cs typeface="Arial"/>
              </a:defRPr>
            </a:pPr>
            <a:r>
              <a:rPr sz="1275" b="0">
                <a:solidFill>
                  <a:srgbClr val="526C6C"/>
                </a:solidFill>
                <a:latin typeface="Arial"/>
                <a:ea typeface="Arial"/>
                <a:cs typeface="Arial"/>
              </a:rPr>
              <a:t>03</a:t>
            </a:r>
          </a:p>
        </p:txBody>
      </p:sp>
      <p:sp>
        <p:nvSpPr>
          <p:cNvPr id="3" name="Make branch information comparable and tracea">
            <a:extLst>
              <a:ext uri="{FF2B5EF4-FFF2-40B4-BE49-F238E27FC236}">
                <a16:creationId xmlns:a16="http://schemas.microsoft.com/office/drawing/2014/main" id="{76B3C595-2AAB-46BE-9EA6-5DDD9185CA13}"/>
              </a:ext>
            </a:extLst>
          </p:cNvPr>
          <p:cNvSpPr>
            <a:spLocks noGrp="1"/>
          </p:cNvSpPr>
          <p:nvPr/>
        </p:nvSpPr>
        <p:spPr>
          <a:xfrm>
            <a:off x="609600" y="1362075"/>
            <a:ext cx="10763250" cy="476250"/>
          </a:xfrm>
          <a:prstGeom prst="rect">
            <a:avLst/>
          </a:prstGeom>
          <a:noFill/>
          <a:ln w="0">
            <a:noFill/>
          </a:ln>
        </p:spPr>
        <p:txBody>
          <a:bodyPr wrap="square" lIns="0" tIns="0" rIns="0" bIns="0" anchor="t">
            <a:noAutofit/>
          </a:bodyPr>
          <a:lstStyle>
            <a:defPPr>
              <a:defRPr sz="2250" b="0">
                <a:solidFill>
                  <a:srgbClr val="087E80"/>
                </a:solidFill>
                <a:latin typeface="Arial"/>
                <a:ea typeface="Arial"/>
                <a:cs typeface="Arial"/>
              </a:defRPr>
            </a:defPPr>
          </a:lstStyle>
          <a:p>
            <a:pPr>
              <a:defRPr sz="2250" b="0">
                <a:solidFill>
                  <a:srgbClr val="087E80"/>
                </a:solidFill>
                <a:latin typeface="Arial"/>
                <a:ea typeface="Arial"/>
                <a:cs typeface="Arial"/>
              </a:defRPr>
            </a:pPr>
            <a:r>
              <a:rPr sz="2250" b="0">
                <a:solidFill>
                  <a:srgbClr val="087E80"/>
                </a:solidFill>
                <a:latin typeface="Arial"/>
                <a:ea typeface="Arial"/>
                <a:cs typeface="Arial"/>
              </a:rPr>
              <a:t>Make branch information comparable and traceable</a:t>
            </a:r>
          </a:p>
        </p:txBody>
      </p:sp>
      <p:sp>
        <p:nvSpPr>
          <p:cNvPr id="4" name="01">
            <a:extLst>
              <a:ext uri="{FF2B5EF4-FFF2-40B4-BE49-F238E27FC236}">
                <a16:creationId xmlns:a16="http://schemas.microsoft.com/office/drawing/2014/main" id="{90B58F81-CD58-426E-B9B8-EDF72AEAEA18}"/>
              </a:ext>
            </a:extLst>
          </p:cNvPr>
          <p:cNvSpPr>
            <a:spLocks noGrp="1"/>
          </p:cNvSpPr>
          <p:nvPr/>
        </p:nvSpPr>
        <p:spPr>
          <a:xfrm>
            <a:off x="609600" y="2295525"/>
            <a:ext cx="619125" cy="504825"/>
          </a:xfrm>
          <a:prstGeom prst="rect">
            <a:avLst/>
          </a:prstGeom>
          <a:noFill/>
          <a:ln w="0">
            <a:noFill/>
          </a:ln>
        </p:spPr>
        <p:txBody>
          <a:bodyPr wrap="square" lIns="0" tIns="0" rIns="0" bIns="0" anchor="t">
            <a:noAutofit/>
          </a:bodyPr>
          <a:lstStyle>
            <a:defPPr>
              <a:defRPr sz="3000" b="1">
                <a:solidFill>
                  <a:srgbClr val="087E80"/>
                </a:solidFill>
                <a:latin typeface="Arial"/>
                <a:ea typeface="Arial"/>
                <a:cs typeface="Arial"/>
              </a:defRPr>
            </a:defPPr>
          </a:lstStyle>
          <a:p>
            <a:pPr>
              <a:defRPr sz="3000" b="1">
                <a:solidFill>
                  <a:srgbClr val="087E80"/>
                </a:solidFill>
                <a:latin typeface="Arial"/>
                <a:ea typeface="Arial"/>
                <a:cs typeface="Arial"/>
              </a:defRPr>
            </a:pPr>
            <a:r>
              <a:rPr sz="3000" b="1">
                <a:solidFill>
                  <a:srgbClr val="087E80"/>
                </a:solidFill>
                <a:latin typeface="Arial"/>
                <a:ea typeface="Arial"/>
                <a:cs typeface="Arial"/>
              </a:rPr>
              <a:t>01</a:t>
            </a:r>
          </a:p>
        </p:txBody>
      </p:sp>
      <p:sp>
        <p:nvSpPr>
          <p:cNvPr id="5" name="Resolve service names">
            <a:extLst>
              <a:ext uri="{FF2B5EF4-FFF2-40B4-BE49-F238E27FC236}">
                <a16:creationId xmlns:a16="http://schemas.microsoft.com/office/drawing/2014/main" id="{26736BD6-F05A-4346-9196-2C77451809E7}"/>
              </a:ext>
            </a:extLst>
          </p:cNvPr>
          <p:cNvSpPr>
            <a:spLocks noGrp="1"/>
          </p:cNvSpPr>
          <p:nvPr/>
        </p:nvSpPr>
        <p:spPr>
          <a:xfrm>
            <a:off x="1400175" y="2324100"/>
            <a:ext cx="4476750" cy="447675"/>
          </a:xfrm>
          <a:prstGeom prst="rect">
            <a:avLst/>
          </a:prstGeom>
          <a:noFill/>
          <a:ln w="0">
            <a:noFill/>
          </a:ln>
        </p:spPr>
        <p:txBody>
          <a:bodyPr wrap="square" lIns="0" tIns="0" rIns="0" bIns="0" anchor="t">
            <a:noAutofit/>
          </a:bodyPr>
          <a:lstStyle>
            <a:defPPr>
              <a:defRPr sz="2175" b="1">
                <a:solidFill>
                  <a:srgbClr val="123D3D"/>
                </a:solidFill>
                <a:latin typeface="Arial"/>
                <a:ea typeface="Arial"/>
                <a:cs typeface="Arial"/>
              </a:defRPr>
            </a:defPPr>
          </a:lstStyle>
          <a:p>
            <a:pPr>
              <a:defRPr sz="2175" b="1">
                <a:solidFill>
                  <a:srgbClr val="123D3D"/>
                </a:solidFill>
                <a:latin typeface="Arial"/>
                <a:ea typeface="Arial"/>
                <a:cs typeface="Arial"/>
              </a:defRPr>
            </a:pPr>
            <a:r>
              <a:rPr sz="2175" b="1" dirty="0">
                <a:solidFill>
                  <a:srgbClr val="123D3D"/>
                </a:solidFill>
                <a:latin typeface="Arial"/>
                <a:ea typeface="Arial"/>
                <a:cs typeface="Arial"/>
              </a:rPr>
              <a:t>Resolve service names</a:t>
            </a:r>
          </a:p>
        </p:txBody>
      </p:sp>
      <p:sp>
        <p:nvSpPr>
          <p:cNvPr id="6" name="Match names and aliases to one service.&#10;Ask u">
            <a:extLst>
              <a:ext uri="{FF2B5EF4-FFF2-40B4-BE49-F238E27FC236}">
                <a16:creationId xmlns:a16="http://schemas.microsoft.com/office/drawing/2014/main" id="{58ED2DDA-003D-4B44-AD86-2057920DDE38}"/>
              </a:ext>
            </a:extLst>
          </p:cNvPr>
          <p:cNvSpPr>
            <a:spLocks noGrp="1"/>
          </p:cNvSpPr>
          <p:nvPr/>
        </p:nvSpPr>
        <p:spPr>
          <a:xfrm>
            <a:off x="1400175" y="2914650"/>
            <a:ext cx="4524375" cy="904875"/>
          </a:xfrm>
          <a:prstGeom prst="rect">
            <a:avLst/>
          </a:prstGeom>
          <a:noFill/>
          <a:ln w="0">
            <a:noFill/>
          </a:ln>
        </p:spPr>
        <p:txBody>
          <a:bodyPr wrap="square" lIns="0" tIns="0" rIns="0" bIns="0" anchor="t">
            <a:noAutofit/>
          </a:bodyPr>
          <a:lstStyle>
            <a:defPPr>
              <a:defRPr sz="1800" b="0">
                <a:solidFill>
                  <a:srgbClr val="526C6C"/>
                </a:solidFill>
                <a:latin typeface="Arial"/>
                <a:ea typeface="Arial"/>
                <a:cs typeface="Arial"/>
              </a:defRPr>
            </a:defPPr>
          </a:lstStyle>
          <a:p>
            <a:pPr>
              <a:defRPr sz="1800" b="0">
                <a:solidFill>
                  <a:srgbClr val="526C6C"/>
                </a:solidFill>
                <a:latin typeface="Arial"/>
                <a:ea typeface="Arial"/>
                <a:cs typeface="Arial"/>
              </a:defRPr>
            </a:pPr>
            <a:r>
              <a:rPr sz="1800" b="0">
                <a:solidFill>
                  <a:srgbClr val="526C6C"/>
                </a:solidFill>
                <a:latin typeface="Arial"/>
                <a:ea typeface="Arial"/>
                <a:cs typeface="Arial"/>
              </a:rPr>
              <a:t>Match names and aliases to one service.</a:t>
            </a:r>
          </a:p>
          <a:p>
            <a:pPr>
              <a:defRPr sz="1800" b="0">
                <a:solidFill>
                  <a:srgbClr val="526C6C"/>
                </a:solidFill>
                <a:latin typeface="Arial"/>
                <a:ea typeface="Arial"/>
                <a:cs typeface="Arial"/>
              </a:defRPr>
            </a:pPr>
            <a:r>
              <a:rPr sz="1800" b="0">
                <a:solidFill>
                  <a:srgbClr val="526C6C"/>
                </a:solidFill>
                <a:latin typeface="Arial"/>
                <a:ea typeface="Arial"/>
                <a:cs typeface="Arial"/>
              </a:rPr>
              <a:t>Ask users to select ambiguous matches.</a:t>
            </a:r>
          </a:p>
        </p:txBody>
      </p:sp>
      <p:sp>
        <p:nvSpPr>
          <p:cNvPr id="7" name="02">
            <a:extLst>
              <a:ext uri="{FF2B5EF4-FFF2-40B4-BE49-F238E27FC236}">
                <a16:creationId xmlns:a16="http://schemas.microsoft.com/office/drawing/2014/main" id="{F6ADF12B-5E26-49F5-BC3D-9F6B275B63EC}"/>
              </a:ext>
            </a:extLst>
          </p:cNvPr>
          <p:cNvSpPr>
            <a:spLocks noGrp="1"/>
          </p:cNvSpPr>
          <p:nvPr/>
        </p:nvSpPr>
        <p:spPr>
          <a:xfrm>
            <a:off x="6048375" y="2295525"/>
            <a:ext cx="619125" cy="504825"/>
          </a:xfrm>
          <a:prstGeom prst="rect">
            <a:avLst/>
          </a:prstGeom>
          <a:noFill/>
          <a:ln w="0">
            <a:noFill/>
          </a:ln>
        </p:spPr>
        <p:txBody>
          <a:bodyPr wrap="square" lIns="0" tIns="0" rIns="0" bIns="0" anchor="t">
            <a:noAutofit/>
          </a:bodyPr>
          <a:lstStyle>
            <a:defPPr>
              <a:defRPr sz="3000" b="1">
                <a:solidFill>
                  <a:srgbClr val="087E80"/>
                </a:solidFill>
                <a:latin typeface="Arial"/>
                <a:ea typeface="Arial"/>
                <a:cs typeface="Arial"/>
              </a:defRPr>
            </a:defPPr>
          </a:lstStyle>
          <a:p>
            <a:pPr>
              <a:defRPr sz="3000" b="1">
                <a:solidFill>
                  <a:srgbClr val="087E80"/>
                </a:solidFill>
                <a:latin typeface="Arial"/>
                <a:ea typeface="Arial"/>
                <a:cs typeface="Arial"/>
              </a:defRPr>
            </a:pPr>
            <a:r>
              <a:rPr sz="3000" b="1">
                <a:solidFill>
                  <a:srgbClr val="087E80"/>
                </a:solidFill>
                <a:latin typeface="Arial"/>
                <a:ea typeface="Arial"/>
                <a:cs typeface="Arial"/>
              </a:rPr>
              <a:t>02</a:t>
            </a:r>
          </a:p>
        </p:txBody>
      </p:sp>
      <p:sp>
        <p:nvSpPr>
          <p:cNvPr id="8" name="Find relevant branches">
            <a:extLst>
              <a:ext uri="{FF2B5EF4-FFF2-40B4-BE49-F238E27FC236}">
                <a16:creationId xmlns:a16="http://schemas.microsoft.com/office/drawing/2014/main" id="{BA963BE5-293D-4055-B892-EA74FF99B2E1}"/>
              </a:ext>
            </a:extLst>
          </p:cNvPr>
          <p:cNvSpPr>
            <a:spLocks noGrp="1"/>
          </p:cNvSpPr>
          <p:nvPr/>
        </p:nvSpPr>
        <p:spPr>
          <a:xfrm>
            <a:off x="6838950" y="2324100"/>
            <a:ext cx="4476750" cy="447675"/>
          </a:xfrm>
          <a:prstGeom prst="rect">
            <a:avLst/>
          </a:prstGeom>
          <a:noFill/>
          <a:ln w="0">
            <a:noFill/>
          </a:ln>
        </p:spPr>
        <p:txBody>
          <a:bodyPr wrap="square" lIns="0" tIns="0" rIns="0" bIns="0" anchor="t">
            <a:noAutofit/>
          </a:bodyPr>
          <a:lstStyle>
            <a:defPPr>
              <a:defRPr sz="2175" b="1">
                <a:solidFill>
                  <a:srgbClr val="123D3D"/>
                </a:solidFill>
                <a:latin typeface="Arial"/>
                <a:ea typeface="Arial"/>
                <a:cs typeface="Arial"/>
              </a:defRPr>
            </a:defPPr>
          </a:lstStyle>
          <a:p>
            <a:pPr>
              <a:defRPr sz="2175" b="1">
                <a:solidFill>
                  <a:srgbClr val="123D3D"/>
                </a:solidFill>
                <a:latin typeface="Arial"/>
                <a:ea typeface="Arial"/>
                <a:cs typeface="Arial"/>
              </a:defRPr>
            </a:pPr>
            <a:r>
              <a:rPr sz="2175" b="1">
                <a:solidFill>
                  <a:srgbClr val="123D3D"/>
                </a:solidFill>
                <a:latin typeface="Arial"/>
                <a:ea typeface="Arial"/>
                <a:cs typeface="Arial"/>
              </a:rPr>
              <a:t>Find relevant branches</a:t>
            </a:r>
          </a:p>
        </p:txBody>
      </p:sp>
      <p:sp>
        <p:nvSpPr>
          <p:cNvPr id="9" name="Filter by location and straight-line radius.&#10;">
            <a:extLst>
              <a:ext uri="{FF2B5EF4-FFF2-40B4-BE49-F238E27FC236}">
                <a16:creationId xmlns:a16="http://schemas.microsoft.com/office/drawing/2014/main" id="{8E512DE3-FFC4-4A30-A569-7A52A799FC7C}"/>
              </a:ext>
            </a:extLst>
          </p:cNvPr>
          <p:cNvSpPr>
            <a:spLocks noGrp="1"/>
          </p:cNvSpPr>
          <p:nvPr/>
        </p:nvSpPr>
        <p:spPr>
          <a:xfrm>
            <a:off x="6838950" y="2914650"/>
            <a:ext cx="4524375" cy="904875"/>
          </a:xfrm>
          <a:prstGeom prst="rect">
            <a:avLst/>
          </a:prstGeom>
          <a:noFill/>
          <a:ln w="0">
            <a:noFill/>
          </a:ln>
        </p:spPr>
        <p:txBody>
          <a:bodyPr wrap="square" lIns="0" tIns="0" rIns="0" bIns="0" anchor="t">
            <a:noAutofit/>
          </a:bodyPr>
          <a:lstStyle>
            <a:defPPr>
              <a:defRPr sz="1800" b="0">
                <a:solidFill>
                  <a:srgbClr val="526C6C"/>
                </a:solidFill>
                <a:latin typeface="Arial"/>
                <a:ea typeface="Arial"/>
                <a:cs typeface="Arial"/>
              </a:defRPr>
            </a:defPPr>
          </a:lstStyle>
          <a:p>
            <a:pPr>
              <a:defRPr sz="1800" b="0">
                <a:solidFill>
                  <a:srgbClr val="526C6C"/>
                </a:solidFill>
                <a:latin typeface="Arial"/>
                <a:ea typeface="Arial"/>
                <a:cs typeface="Arial"/>
              </a:defRPr>
            </a:pPr>
            <a:r>
              <a:rPr sz="1800" b="0">
                <a:solidFill>
                  <a:srgbClr val="526C6C"/>
                </a:solidFill>
                <a:latin typeface="Arial"/>
                <a:ea typeface="Arial"/>
                <a:cs typeface="Arial"/>
              </a:rPr>
              <a:t>Filter by location and straight-line radius.</a:t>
            </a:r>
          </a:p>
          <a:p>
            <a:pPr>
              <a:defRPr sz="1800" b="0">
                <a:solidFill>
                  <a:srgbClr val="526C6C"/>
                </a:solidFill>
                <a:latin typeface="Arial"/>
                <a:ea typeface="Arial"/>
                <a:cs typeface="Arial"/>
              </a:defRPr>
            </a:pPr>
            <a:r>
              <a:rPr sz="1800" b="0">
                <a:solidFill>
                  <a:srgbClr val="526C6C"/>
                </a:solidFill>
                <a:latin typeface="Arial"/>
                <a:ea typeface="Arial"/>
                <a:cs typeface="Arial"/>
              </a:rPr>
              <a:t>Show road distance and travel time separately.</a:t>
            </a:r>
          </a:p>
        </p:txBody>
      </p:sp>
      <p:sp>
        <p:nvSpPr>
          <p:cNvPr id="10" name="03">
            <a:extLst>
              <a:ext uri="{FF2B5EF4-FFF2-40B4-BE49-F238E27FC236}">
                <a16:creationId xmlns:a16="http://schemas.microsoft.com/office/drawing/2014/main" id="{4CF4368B-2BF2-46F3-9B2E-0651CF83B88C}"/>
              </a:ext>
            </a:extLst>
          </p:cNvPr>
          <p:cNvSpPr>
            <a:spLocks noGrp="1"/>
          </p:cNvSpPr>
          <p:nvPr/>
        </p:nvSpPr>
        <p:spPr>
          <a:xfrm>
            <a:off x="609600" y="4229100"/>
            <a:ext cx="619125" cy="504825"/>
          </a:xfrm>
          <a:prstGeom prst="rect">
            <a:avLst/>
          </a:prstGeom>
          <a:noFill/>
          <a:ln w="0">
            <a:noFill/>
          </a:ln>
        </p:spPr>
        <p:txBody>
          <a:bodyPr wrap="square" lIns="0" tIns="0" rIns="0" bIns="0" anchor="t">
            <a:noAutofit/>
          </a:bodyPr>
          <a:lstStyle>
            <a:defPPr>
              <a:defRPr sz="3000" b="1">
                <a:solidFill>
                  <a:srgbClr val="087E80"/>
                </a:solidFill>
                <a:latin typeface="Arial"/>
                <a:ea typeface="Arial"/>
                <a:cs typeface="Arial"/>
              </a:defRPr>
            </a:defPPr>
          </a:lstStyle>
          <a:p>
            <a:pPr>
              <a:defRPr sz="3000" b="1">
                <a:solidFill>
                  <a:srgbClr val="087E80"/>
                </a:solidFill>
                <a:latin typeface="Arial"/>
                <a:ea typeface="Arial"/>
                <a:cs typeface="Arial"/>
              </a:defRPr>
            </a:pPr>
            <a:r>
              <a:rPr sz="3000" b="1">
                <a:solidFill>
                  <a:srgbClr val="087E80"/>
                </a:solidFill>
                <a:latin typeface="Arial"/>
                <a:ea typeface="Arial"/>
                <a:cs typeface="Arial"/>
              </a:rPr>
              <a:t>03</a:t>
            </a:r>
          </a:p>
        </p:txBody>
      </p:sp>
      <p:sp>
        <p:nvSpPr>
          <p:cNvPr id="11" name="Compare branch data">
            <a:extLst>
              <a:ext uri="{FF2B5EF4-FFF2-40B4-BE49-F238E27FC236}">
                <a16:creationId xmlns:a16="http://schemas.microsoft.com/office/drawing/2014/main" id="{329638FE-2D2E-4C78-8F4C-0303433A2994}"/>
              </a:ext>
            </a:extLst>
          </p:cNvPr>
          <p:cNvSpPr>
            <a:spLocks noGrp="1"/>
          </p:cNvSpPr>
          <p:nvPr/>
        </p:nvSpPr>
        <p:spPr>
          <a:xfrm>
            <a:off x="1400175" y="4257675"/>
            <a:ext cx="4476750" cy="447675"/>
          </a:xfrm>
          <a:prstGeom prst="rect">
            <a:avLst/>
          </a:prstGeom>
          <a:noFill/>
          <a:ln w="0">
            <a:noFill/>
          </a:ln>
        </p:spPr>
        <p:txBody>
          <a:bodyPr wrap="square" lIns="0" tIns="0" rIns="0" bIns="0" anchor="t">
            <a:noAutofit/>
          </a:bodyPr>
          <a:lstStyle>
            <a:defPPr>
              <a:defRPr sz="2175" b="1">
                <a:solidFill>
                  <a:srgbClr val="123D3D"/>
                </a:solidFill>
                <a:latin typeface="Arial"/>
                <a:ea typeface="Arial"/>
                <a:cs typeface="Arial"/>
              </a:defRPr>
            </a:defPPr>
          </a:lstStyle>
          <a:p>
            <a:pPr>
              <a:defRPr sz="2175" b="1">
                <a:solidFill>
                  <a:srgbClr val="123D3D"/>
                </a:solidFill>
                <a:latin typeface="Arial"/>
                <a:ea typeface="Arial"/>
                <a:cs typeface="Arial"/>
              </a:defRPr>
            </a:pPr>
            <a:r>
              <a:rPr sz="2175" b="1" dirty="0">
                <a:solidFill>
                  <a:srgbClr val="123D3D"/>
                </a:solidFill>
                <a:latin typeface="Arial"/>
                <a:ea typeface="Arial"/>
                <a:cs typeface="Arial"/>
              </a:rPr>
              <a:t>Compare branch data</a:t>
            </a:r>
          </a:p>
        </p:txBody>
      </p:sp>
      <p:sp>
        <p:nvSpPr>
          <p:cNvPr id="12" name="Show base prices and verification dates.&#10;Use ">
            <a:extLst>
              <a:ext uri="{FF2B5EF4-FFF2-40B4-BE49-F238E27FC236}">
                <a16:creationId xmlns:a16="http://schemas.microsoft.com/office/drawing/2014/main" id="{1F8B8911-72DC-452A-8152-9EA663C57B07}"/>
              </a:ext>
            </a:extLst>
          </p:cNvPr>
          <p:cNvSpPr>
            <a:spLocks noGrp="1"/>
          </p:cNvSpPr>
          <p:nvPr/>
        </p:nvSpPr>
        <p:spPr>
          <a:xfrm>
            <a:off x="1400175" y="4848225"/>
            <a:ext cx="4524375" cy="904875"/>
          </a:xfrm>
          <a:prstGeom prst="rect">
            <a:avLst/>
          </a:prstGeom>
          <a:noFill/>
          <a:ln w="0">
            <a:noFill/>
          </a:ln>
        </p:spPr>
        <p:txBody>
          <a:bodyPr wrap="square" lIns="0" tIns="0" rIns="0" bIns="0" anchor="t">
            <a:noAutofit/>
          </a:bodyPr>
          <a:lstStyle>
            <a:defPPr>
              <a:defRPr sz="1800" b="0">
                <a:solidFill>
                  <a:srgbClr val="526C6C"/>
                </a:solidFill>
                <a:latin typeface="Arial"/>
                <a:ea typeface="Arial"/>
                <a:cs typeface="Arial"/>
              </a:defRPr>
            </a:defPPr>
          </a:lstStyle>
          <a:p>
            <a:pPr>
              <a:defRPr sz="1800" b="0">
                <a:solidFill>
                  <a:srgbClr val="526C6C"/>
                </a:solidFill>
                <a:latin typeface="Arial"/>
                <a:ea typeface="Arial"/>
                <a:cs typeface="Arial"/>
              </a:defRPr>
            </a:pPr>
            <a:r>
              <a:rPr sz="1800" b="0" dirty="0">
                <a:solidFill>
                  <a:srgbClr val="526C6C"/>
                </a:solidFill>
                <a:latin typeface="Arial"/>
                <a:ea typeface="Arial"/>
                <a:cs typeface="Arial"/>
              </a:rPr>
              <a:t>Show base prices and verification dates.</a:t>
            </a:r>
          </a:p>
          <a:p>
            <a:pPr>
              <a:defRPr sz="1800" b="0">
                <a:solidFill>
                  <a:srgbClr val="526C6C"/>
                </a:solidFill>
                <a:latin typeface="Arial"/>
                <a:ea typeface="Arial"/>
                <a:cs typeface="Arial"/>
              </a:defRPr>
            </a:pPr>
            <a:r>
              <a:rPr sz="1800" b="0" dirty="0">
                <a:solidFill>
                  <a:srgbClr val="526C6C"/>
                </a:solidFill>
                <a:latin typeface="Arial"/>
                <a:ea typeface="Arial"/>
                <a:cs typeface="Arial"/>
              </a:rPr>
              <a:t>Use at least </a:t>
            </a:r>
            <a:r>
              <a:rPr lang="en-US" sz="1800" b="0" dirty="0">
                <a:solidFill>
                  <a:srgbClr val="526C6C"/>
                </a:solidFill>
                <a:latin typeface="Arial"/>
                <a:ea typeface="Arial"/>
                <a:cs typeface="Arial"/>
              </a:rPr>
              <a:t>two</a:t>
            </a:r>
            <a:r>
              <a:rPr sz="1800" b="0" dirty="0">
                <a:solidFill>
                  <a:srgbClr val="526C6C"/>
                </a:solidFill>
                <a:latin typeface="Arial"/>
                <a:ea typeface="Arial"/>
                <a:cs typeface="Arial"/>
              </a:rPr>
              <a:t> eligible branches for statistics.</a:t>
            </a:r>
          </a:p>
        </p:txBody>
      </p:sp>
      <p:sp>
        <p:nvSpPr>
          <p:cNvPr id="13" name="04">
            <a:extLst>
              <a:ext uri="{FF2B5EF4-FFF2-40B4-BE49-F238E27FC236}">
                <a16:creationId xmlns:a16="http://schemas.microsoft.com/office/drawing/2014/main" id="{2FA7027D-7A20-450B-A16D-7D6D3775273B}"/>
              </a:ext>
            </a:extLst>
          </p:cNvPr>
          <p:cNvSpPr>
            <a:spLocks noGrp="1"/>
          </p:cNvSpPr>
          <p:nvPr/>
        </p:nvSpPr>
        <p:spPr>
          <a:xfrm>
            <a:off x="6048375" y="4229100"/>
            <a:ext cx="619125" cy="504825"/>
          </a:xfrm>
          <a:prstGeom prst="rect">
            <a:avLst/>
          </a:prstGeom>
          <a:noFill/>
          <a:ln w="0">
            <a:noFill/>
          </a:ln>
        </p:spPr>
        <p:txBody>
          <a:bodyPr wrap="square" lIns="0" tIns="0" rIns="0" bIns="0" anchor="t">
            <a:noAutofit/>
          </a:bodyPr>
          <a:lstStyle>
            <a:defPPr>
              <a:defRPr sz="3000" b="1">
                <a:solidFill>
                  <a:srgbClr val="087E80"/>
                </a:solidFill>
                <a:latin typeface="Arial"/>
                <a:ea typeface="Arial"/>
                <a:cs typeface="Arial"/>
              </a:defRPr>
            </a:defPPr>
          </a:lstStyle>
          <a:p>
            <a:pPr>
              <a:defRPr sz="3000" b="1">
                <a:solidFill>
                  <a:srgbClr val="087E80"/>
                </a:solidFill>
                <a:latin typeface="Arial"/>
                <a:ea typeface="Arial"/>
                <a:cs typeface="Arial"/>
              </a:defRPr>
            </a:pPr>
            <a:r>
              <a:rPr sz="3000" b="1">
                <a:solidFill>
                  <a:srgbClr val="087E80"/>
                </a:solidFill>
                <a:latin typeface="Arial"/>
                <a:ea typeface="Arial"/>
                <a:cs typeface="Arial"/>
              </a:rPr>
              <a:t>04</a:t>
            </a:r>
          </a:p>
        </p:txBody>
      </p:sp>
      <p:sp>
        <p:nvSpPr>
          <p:cNvPr id="14" name="Maintain published data">
            <a:extLst>
              <a:ext uri="{FF2B5EF4-FFF2-40B4-BE49-F238E27FC236}">
                <a16:creationId xmlns:a16="http://schemas.microsoft.com/office/drawing/2014/main" id="{8B99BF98-F4EE-4446-B627-D2B89A1A4F04}"/>
              </a:ext>
            </a:extLst>
          </p:cNvPr>
          <p:cNvSpPr>
            <a:spLocks noGrp="1"/>
          </p:cNvSpPr>
          <p:nvPr/>
        </p:nvSpPr>
        <p:spPr>
          <a:xfrm>
            <a:off x="6838950" y="4257675"/>
            <a:ext cx="4476750" cy="447675"/>
          </a:xfrm>
          <a:prstGeom prst="rect">
            <a:avLst/>
          </a:prstGeom>
          <a:noFill/>
          <a:ln w="0">
            <a:noFill/>
          </a:ln>
        </p:spPr>
        <p:txBody>
          <a:bodyPr wrap="square" lIns="0" tIns="0" rIns="0" bIns="0" anchor="t">
            <a:noAutofit/>
          </a:bodyPr>
          <a:lstStyle>
            <a:defPPr>
              <a:defRPr sz="2175" b="1">
                <a:solidFill>
                  <a:srgbClr val="123D3D"/>
                </a:solidFill>
                <a:latin typeface="Arial"/>
                <a:ea typeface="Arial"/>
                <a:cs typeface="Arial"/>
              </a:defRPr>
            </a:defPPr>
          </a:lstStyle>
          <a:p>
            <a:pPr>
              <a:defRPr sz="2175" b="1">
                <a:solidFill>
                  <a:srgbClr val="123D3D"/>
                </a:solidFill>
                <a:latin typeface="Arial"/>
                <a:ea typeface="Arial"/>
                <a:cs typeface="Arial"/>
              </a:defRPr>
            </a:pPr>
            <a:r>
              <a:rPr sz="2175" b="1">
                <a:solidFill>
                  <a:srgbClr val="123D3D"/>
                </a:solidFill>
                <a:latin typeface="Arial"/>
                <a:ea typeface="Arial"/>
                <a:cs typeface="Arial"/>
              </a:rPr>
              <a:t>Maintain published data</a:t>
            </a:r>
          </a:p>
        </p:txBody>
      </p:sp>
      <p:sp>
        <p:nvSpPr>
          <p:cNvPr id="15" name="Administrators review prices and corrections.">
            <a:extLst>
              <a:ext uri="{FF2B5EF4-FFF2-40B4-BE49-F238E27FC236}">
                <a16:creationId xmlns:a16="http://schemas.microsoft.com/office/drawing/2014/main" id="{F505485B-7819-4225-8B82-007A569F20AE}"/>
              </a:ext>
            </a:extLst>
          </p:cNvPr>
          <p:cNvSpPr>
            <a:spLocks noGrp="1"/>
          </p:cNvSpPr>
          <p:nvPr/>
        </p:nvSpPr>
        <p:spPr>
          <a:xfrm>
            <a:off x="6838950" y="4848225"/>
            <a:ext cx="4733925" cy="904875"/>
          </a:xfrm>
          <a:prstGeom prst="rect">
            <a:avLst/>
          </a:prstGeom>
          <a:noFill/>
          <a:ln w="0">
            <a:noFill/>
          </a:ln>
        </p:spPr>
        <p:txBody>
          <a:bodyPr wrap="square" lIns="0" tIns="0" rIns="0" bIns="0" anchor="t">
            <a:noAutofit/>
          </a:bodyPr>
          <a:lstStyle>
            <a:defPPr>
              <a:defRPr sz="1800" b="0">
                <a:solidFill>
                  <a:srgbClr val="526C6C"/>
                </a:solidFill>
                <a:latin typeface="Arial"/>
                <a:ea typeface="Arial"/>
                <a:cs typeface="Arial"/>
              </a:defRPr>
            </a:defPPr>
          </a:lstStyle>
          <a:p>
            <a:pPr>
              <a:defRPr sz="1800" b="0">
                <a:solidFill>
                  <a:srgbClr val="526C6C"/>
                </a:solidFill>
                <a:latin typeface="Arial"/>
                <a:ea typeface="Arial"/>
                <a:cs typeface="Arial"/>
              </a:defRPr>
            </a:pPr>
            <a:r>
              <a:rPr sz="1800" b="0" dirty="0">
                <a:solidFill>
                  <a:srgbClr val="526C6C"/>
                </a:solidFill>
                <a:latin typeface="Arial"/>
                <a:ea typeface="Arial"/>
                <a:cs typeface="Arial"/>
              </a:rPr>
              <a:t>Administrators review prices and corrections.</a:t>
            </a:r>
          </a:p>
        </p:txBody>
      </p:sp>
    </p:spTree>
    <p:extLst>
      <p:ext uri="{BB962C8B-B14F-4D97-AF65-F5344CB8AC3E}">
        <p14:creationId xmlns:p14="http://schemas.microsoft.com/office/powerpoint/2010/main" val="1401080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elected technology stack">
            <a:extLst>
              <a:ext uri="{FF2B5EF4-FFF2-40B4-BE49-F238E27FC236}">
                <a16:creationId xmlns:a16="http://schemas.microsoft.com/office/drawing/2014/main" id="{611161EE-DE78-4756-8082-E3BBBEC1A884}"/>
              </a:ext>
            </a:extLst>
          </p:cNvPr>
          <p:cNvSpPr>
            <a:spLocks noGrp="1"/>
          </p:cNvSpPr>
          <p:nvPr/>
        </p:nvSpPr>
        <p:spPr>
          <a:xfrm>
            <a:off x="609600" y="495300"/>
            <a:ext cx="10972800" cy="742950"/>
          </a:xfrm>
          <a:prstGeom prst="rect">
            <a:avLst/>
          </a:prstGeom>
          <a:noFill/>
          <a:ln w="0">
            <a:noFill/>
          </a:ln>
        </p:spPr>
        <p:txBody>
          <a:bodyPr wrap="square" lIns="0" tIns="0" rIns="0" bIns="0" anchor="t">
            <a:noAutofit/>
          </a:bodyPr>
          <a:lstStyle>
            <a:defPPr>
              <a:defRPr sz="3450" b="1">
                <a:solidFill>
                  <a:srgbClr val="123D3D"/>
                </a:solidFill>
                <a:latin typeface="Arial"/>
                <a:ea typeface="Arial"/>
                <a:cs typeface="Arial"/>
              </a:defRPr>
            </a:defPPr>
          </a:lstStyle>
          <a:p>
            <a:pPr>
              <a:defRPr sz="3450" b="1">
                <a:solidFill>
                  <a:srgbClr val="123D3D"/>
                </a:solidFill>
                <a:latin typeface="Arial"/>
                <a:ea typeface="Arial"/>
                <a:cs typeface="Arial"/>
              </a:defRPr>
            </a:pPr>
            <a:r>
              <a:rPr sz="3450" b="1">
                <a:solidFill>
                  <a:srgbClr val="123D3D"/>
                </a:solidFill>
                <a:latin typeface="Arial"/>
                <a:ea typeface="Arial"/>
                <a:cs typeface="Arial"/>
              </a:rPr>
              <a:t>Selected technology stack</a:t>
            </a:r>
          </a:p>
        </p:txBody>
      </p:sp>
      <p:sp>
        <p:nvSpPr>
          <p:cNvPr id="2" name="04">
            <a:extLst>
              <a:ext uri="{FF2B5EF4-FFF2-40B4-BE49-F238E27FC236}">
                <a16:creationId xmlns:a16="http://schemas.microsoft.com/office/drawing/2014/main" id="{E491AD67-A3EE-4CE5-8EBB-2C9F90C55824}"/>
              </a:ext>
            </a:extLst>
          </p:cNvPr>
          <p:cNvSpPr>
            <a:spLocks noGrp="1"/>
          </p:cNvSpPr>
          <p:nvPr/>
        </p:nvSpPr>
        <p:spPr>
          <a:xfrm>
            <a:off x="11049000" y="6296025"/>
            <a:ext cx="533400" cy="228600"/>
          </a:xfrm>
          <a:prstGeom prst="rect">
            <a:avLst/>
          </a:prstGeom>
          <a:noFill/>
          <a:ln w="0">
            <a:noFill/>
          </a:ln>
        </p:spPr>
        <p:txBody>
          <a:bodyPr wrap="square" lIns="0" tIns="0" rIns="0" bIns="0" anchor="t">
            <a:noAutofit/>
          </a:bodyPr>
          <a:lstStyle>
            <a:defPPr>
              <a:defRPr sz="1275" b="0">
                <a:solidFill>
                  <a:srgbClr val="526C6C"/>
                </a:solidFill>
                <a:latin typeface="Arial"/>
                <a:ea typeface="Arial"/>
                <a:cs typeface="Arial"/>
              </a:defRPr>
            </a:defPPr>
          </a:lstStyle>
          <a:p>
            <a:pPr>
              <a:defRPr sz="1275" b="0">
                <a:solidFill>
                  <a:srgbClr val="526C6C"/>
                </a:solidFill>
                <a:latin typeface="Arial"/>
                <a:ea typeface="Arial"/>
                <a:cs typeface="Arial"/>
              </a:defRPr>
            </a:pPr>
            <a:r>
              <a:rPr sz="1275" b="0">
                <a:solidFill>
                  <a:srgbClr val="526C6C"/>
                </a:solidFill>
                <a:latin typeface="Arial"/>
                <a:ea typeface="Arial"/>
                <a:cs typeface="Arial"/>
              </a:rPr>
              <a:t>04</a:t>
            </a:r>
          </a:p>
        </p:txBody>
      </p:sp>
      <p:sp>
        <p:nvSpPr>
          <p:cNvPr id="3" name="Planned architecture. Package versions are no">
            <a:extLst>
              <a:ext uri="{FF2B5EF4-FFF2-40B4-BE49-F238E27FC236}">
                <a16:creationId xmlns:a16="http://schemas.microsoft.com/office/drawing/2014/main" id="{8384504C-8478-4497-8DD0-B3297B4718D6}"/>
              </a:ext>
            </a:extLst>
          </p:cNvPr>
          <p:cNvSpPr>
            <a:spLocks noGrp="1"/>
          </p:cNvSpPr>
          <p:nvPr/>
        </p:nvSpPr>
        <p:spPr>
          <a:xfrm>
            <a:off x="609600" y="1362075"/>
            <a:ext cx="10953750" cy="400050"/>
          </a:xfrm>
          <a:prstGeom prst="rect">
            <a:avLst/>
          </a:prstGeom>
          <a:noFill/>
          <a:ln w="0">
            <a:noFill/>
          </a:ln>
        </p:spPr>
        <p:txBody>
          <a:bodyPr wrap="square" lIns="0" tIns="0" rIns="0" bIns="0" anchor="t">
            <a:noAutofit/>
          </a:bodyPr>
          <a:lstStyle>
            <a:defPPr>
              <a:defRPr sz="1950" b="0">
                <a:solidFill>
                  <a:srgbClr val="526C6C"/>
                </a:solidFill>
                <a:latin typeface="Arial"/>
                <a:ea typeface="Arial"/>
                <a:cs typeface="Arial"/>
              </a:defRPr>
            </a:defPPr>
          </a:lstStyle>
          <a:p>
            <a:pPr>
              <a:defRPr sz="1950" b="0">
                <a:solidFill>
                  <a:srgbClr val="526C6C"/>
                </a:solidFill>
                <a:latin typeface="Arial"/>
                <a:ea typeface="Arial"/>
                <a:cs typeface="Arial"/>
              </a:defRPr>
            </a:pPr>
            <a:r>
              <a:rPr sz="1950" b="0">
                <a:solidFill>
                  <a:srgbClr val="526C6C"/>
                </a:solidFill>
                <a:latin typeface="Arial"/>
                <a:ea typeface="Arial"/>
                <a:cs typeface="Arial"/>
              </a:rPr>
              <a:t>Planned architecture. Package versions are not yet selected.</a:t>
            </a:r>
          </a:p>
        </p:txBody>
      </p:sp>
      <p:graphicFrame>
        <p:nvGraphicFramePr>
          <p:cNvPr id="4" name="Table 3">
            <a:extLst>
              <a:ext uri="{FF2B5EF4-FFF2-40B4-BE49-F238E27FC236}">
                <a16:creationId xmlns:a16="http://schemas.microsoft.com/office/drawing/2014/main" id="{16A39A18-4E2B-4B75-BF76-14C1FBA46D2C}"/>
              </a:ext>
            </a:extLst>
          </p:cNvPr>
          <p:cNvGraphicFramePr/>
          <p:nvPr/>
        </p:nvGraphicFramePr>
        <p:xfrm>
          <a:off x="609600" y="1981200"/>
          <a:ext cx="10972800" cy="3581400"/>
        </p:xfrm>
        <a:graphic>
          <a:graphicData uri="http://schemas.openxmlformats.org/drawingml/2006/table">
            <a:tbl>
              <a:tblPr/>
              <a:tblGrid>
                <a:gridCol w="1857375">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5972175">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Layer</a:t>
                      </a:r>
                    </a:p>
                  </a:txBody>
                  <a:tcPr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23D3D"/>
                    </a:solidFill>
                  </a:tcPr>
                </a:tc>
                <a:tc>
                  <a:txBody>
                    <a:bodyPr/>
                    <a:lstStyle/>
                    <a:p>
                      <a:r>
                        <a:rPr sz="1500" b="1">
                          <a:solidFill>
                            <a:srgbClr val="FFFFFF"/>
                          </a:solidFill>
                          <a:latin typeface="Arial"/>
                          <a:ea typeface="Arial"/>
                          <a:cs typeface="Arial"/>
                        </a:rPr>
                        <a:t>Technology</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123D3D"/>
                    </a:solidFill>
                  </a:tcPr>
                </a:tc>
                <a:tc>
                  <a:txBody>
                    <a:bodyPr/>
                    <a:lstStyle/>
                    <a:p>
                      <a:r>
                        <a:rPr sz="1500" b="1">
                          <a:solidFill>
                            <a:srgbClr val="FFFFFF"/>
                          </a:solidFill>
                          <a:latin typeface="Arial"/>
                          <a:ea typeface="Arial"/>
                          <a:cs typeface="Arial"/>
                        </a:rPr>
                        <a:t>Project role</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123D3D"/>
                    </a:solidFill>
                  </a:tcPr>
                </a:tc>
                <a:extLst>
                  <a:ext uri="{0D108BD9-81ED-4DB2-BD59-A6C34878D82A}">
                    <a16:rowId xmlns:a16="http://schemas.microsoft.com/office/drawing/2014/main" val="10000"/>
                  </a:ext>
                </a:extLst>
              </a:tr>
              <a:tr h="617220">
                <a:tc>
                  <a:txBody>
                    <a:bodyPr/>
                    <a:lstStyle/>
                    <a:p>
                      <a:r>
                        <a:rPr sz="1725" b="0">
                          <a:solidFill>
                            <a:srgbClr val="123D3D"/>
                          </a:solidFill>
                          <a:latin typeface="Arial"/>
                          <a:ea typeface="Arial"/>
                          <a:cs typeface="Arial"/>
                        </a:rPr>
                        <a:t>Interface</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a:solidFill>
                            <a:srgbClr val="123D3D"/>
                          </a:solidFill>
                          <a:latin typeface="Arial"/>
                          <a:ea typeface="Arial"/>
                          <a:cs typeface="Arial"/>
                        </a:rPr>
                        <a:t>React + TypeScript</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a:solidFill>
                            <a:srgbClr val="123D3D"/>
                          </a:solidFill>
                          <a:latin typeface="Arial"/>
                          <a:ea typeface="Arial"/>
                          <a:cs typeface="Arial"/>
                        </a:rPr>
                        <a:t>Reusable UI with strict type checks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extLst>
                  <a:ext uri="{0D108BD9-81ED-4DB2-BD59-A6C34878D82A}">
                    <a16:rowId xmlns:a16="http://schemas.microsoft.com/office/drawing/2014/main" val="10001"/>
                  </a:ext>
                </a:extLst>
              </a:tr>
              <a:tr h="617220">
                <a:tc>
                  <a:txBody>
                    <a:bodyPr/>
                    <a:lstStyle/>
                    <a:p>
                      <a:r>
                        <a:rPr sz="1725" b="0">
                          <a:solidFill>
                            <a:srgbClr val="123D3D"/>
                          </a:solidFill>
                          <a:latin typeface="Arial"/>
                          <a:ea typeface="Arial"/>
                          <a:cs typeface="Arial"/>
                        </a:rPr>
                        <a:t>Application</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dirty="0" err="1">
                          <a:solidFill>
                            <a:srgbClr val="123D3D"/>
                          </a:solidFill>
                          <a:latin typeface="Arial"/>
                          <a:ea typeface="Arial"/>
                          <a:cs typeface="Arial"/>
                        </a:rPr>
                        <a:t>TanStack</a:t>
                      </a:r>
                      <a:r>
                        <a:rPr sz="1725" b="0" dirty="0">
                          <a:solidFill>
                            <a:srgbClr val="123D3D"/>
                          </a:solidFill>
                          <a:latin typeface="Arial"/>
                          <a:ea typeface="Arial"/>
                          <a:cs typeface="Arial"/>
                        </a:rPr>
                        <a:t> Start</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a:solidFill>
                            <a:srgbClr val="123D3D"/>
                          </a:solidFill>
                          <a:latin typeface="Arial"/>
                          <a:ea typeface="Arial"/>
                          <a:cs typeface="Arial"/>
                        </a:rPr>
                        <a:t>Server-rendered service and branch pages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17220">
                <a:tc>
                  <a:txBody>
                    <a:bodyPr/>
                    <a:lstStyle/>
                    <a:p>
                      <a:r>
                        <a:rPr sz="1725" b="0">
                          <a:solidFill>
                            <a:srgbClr val="123D3D"/>
                          </a:solidFill>
                          <a:latin typeface="Arial"/>
                          <a:ea typeface="Arial"/>
                          <a:cs typeface="Arial"/>
                        </a:rPr>
                        <a:t>Runtime</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dirty="0">
                          <a:solidFill>
                            <a:srgbClr val="123D3D"/>
                          </a:solidFill>
                          <a:latin typeface="Arial"/>
                          <a:ea typeface="Arial"/>
                          <a:cs typeface="Arial"/>
                        </a:rPr>
                        <a:t>Cloudflare Workers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a:solidFill>
                            <a:srgbClr val="123D3D"/>
                          </a:solidFill>
                          <a:latin typeface="Arial"/>
                          <a:ea typeface="Arial"/>
                          <a:cs typeface="Arial"/>
                        </a:rPr>
                        <a:t>One deployment with internal feature modules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extLst>
                  <a:ext uri="{0D108BD9-81ED-4DB2-BD59-A6C34878D82A}">
                    <a16:rowId xmlns:a16="http://schemas.microsoft.com/office/drawing/2014/main" val="10003"/>
                  </a:ext>
                </a:extLst>
              </a:tr>
              <a:tr h="617220">
                <a:tc>
                  <a:txBody>
                    <a:bodyPr/>
                    <a:lstStyle/>
                    <a:p>
                      <a:r>
                        <a:rPr sz="1725" b="0">
                          <a:solidFill>
                            <a:srgbClr val="123D3D"/>
                          </a:solidFill>
                          <a:latin typeface="Arial"/>
                          <a:ea typeface="Arial"/>
                          <a:cs typeface="Arial"/>
                        </a:rPr>
                        <a:t>Database</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a:solidFill>
                            <a:srgbClr val="123D3D"/>
                          </a:solidFill>
                          <a:latin typeface="Arial"/>
                          <a:ea typeface="Arial"/>
                          <a:cs typeface="Arial"/>
                        </a:rPr>
                        <a:t>Cloudflare D1</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dirty="0">
                          <a:solidFill>
                            <a:srgbClr val="123D3D"/>
                          </a:solidFill>
                          <a:latin typeface="Arial"/>
                          <a:ea typeface="Arial"/>
                          <a:cs typeface="Arial"/>
                        </a:rPr>
                        <a:t>Relational records, prepared SQL and migrations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r h="617220">
                <a:tc>
                  <a:txBody>
                    <a:bodyPr/>
                    <a:lstStyle/>
                    <a:p>
                      <a:r>
                        <a:rPr sz="1725" b="0">
                          <a:solidFill>
                            <a:srgbClr val="123D3D"/>
                          </a:solidFill>
                          <a:latin typeface="Arial"/>
                          <a:ea typeface="Arial"/>
                          <a:cs typeface="Arial"/>
                        </a:rPr>
                        <a:t>Authentication</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a:solidFill>
                            <a:srgbClr val="123D3D"/>
                          </a:solidFill>
                          <a:latin typeface="Arial"/>
                          <a:ea typeface="Arial"/>
                          <a:cs typeface="Arial"/>
                        </a:rPr>
                        <a:t>Google sign-in</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dirty="0">
                          <a:solidFill>
                            <a:srgbClr val="123D3D"/>
                          </a:solidFill>
                          <a:latin typeface="Arial"/>
                          <a:ea typeface="Arial"/>
                          <a:cs typeface="Arial"/>
                        </a:rPr>
                        <a:t>Review accounts; separate administrator access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37957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Why this stack">
            <a:extLst>
              <a:ext uri="{FF2B5EF4-FFF2-40B4-BE49-F238E27FC236}">
                <a16:creationId xmlns:a16="http://schemas.microsoft.com/office/drawing/2014/main" id="{75326415-4741-4009-B4B7-5795EABD10DC}"/>
              </a:ext>
            </a:extLst>
          </p:cNvPr>
          <p:cNvSpPr>
            <a:spLocks noGrp="1"/>
          </p:cNvSpPr>
          <p:nvPr/>
        </p:nvSpPr>
        <p:spPr>
          <a:xfrm>
            <a:off x="609600" y="495300"/>
            <a:ext cx="10972800" cy="742950"/>
          </a:xfrm>
          <a:prstGeom prst="rect">
            <a:avLst/>
          </a:prstGeom>
          <a:noFill/>
          <a:ln w="0">
            <a:noFill/>
          </a:ln>
        </p:spPr>
        <p:txBody>
          <a:bodyPr wrap="square" lIns="0" tIns="0" rIns="0" bIns="0" anchor="t">
            <a:noAutofit/>
          </a:bodyPr>
          <a:lstStyle>
            <a:defPPr>
              <a:defRPr sz="3450" b="1">
                <a:solidFill>
                  <a:srgbClr val="123D3D"/>
                </a:solidFill>
                <a:latin typeface="Arial"/>
                <a:ea typeface="Arial"/>
                <a:cs typeface="Arial"/>
              </a:defRPr>
            </a:defPPr>
          </a:lstStyle>
          <a:p>
            <a:pPr>
              <a:defRPr sz="3450" b="1">
                <a:solidFill>
                  <a:srgbClr val="123D3D"/>
                </a:solidFill>
                <a:latin typeface="Arial"/>
                <a:ea typeface="Arial"/>
                <a:cs typeface="Arial"/>
              </a:defRPr>
            </a:pPr>
            <a:r>
              <a:rPr sz="3450" b="1">
                <a:solidFill>
                  <a:srgbClr val="123D3D"/>
                </a:solidFill>
                <a:latin typeface="Arial"/>
                <a:ea typeface="Arial"/>
                <a:cs typeface="Arial"/>
              </a:rPr>
              <a:t>Why this stack</a:t>
            </a:r>
          </a:p>
        </p:txBody>
      </p:sp>
      <p:sp>
        <p:nvSpPr>
          <p:cNvPr id="2" name="05">
            <a:extLst>
              <a:ext uri="{FF2B5EF4-FFF2-40B4-BE49-F238E27FC236}">
                <a16:creationId xmlns:a16="http://schemas.microsoft.com/office/drawing/2014/main" id="{E8E87047-B18A-44E2-B6EE-91F91379CBB0}"/>
              </a:ext>
            </a:extLst>
          </p:cNvPr>
          <p:cNvSpPr>
            <a:spLocks noGrp="1"/>
          </p:cNvSpPr>
          <p:nvPr/>
        </p:nvSpPr>
        <p:spPr>
          <a:xfrm>
            <a:off x="11049000" y="6296025"/>
            <a:ext cx="533400" cy="228600"/>
          </a:xfrm>
          <a:prstGeom prst="rect">
            <a:avLst/>
          </a:prstGeom>
          <a:noFill/>
          <a:ln w="0">
            <a:noFill/>
          </a:ln>
        </p:spPr>
        <p:txBody>
          <a:bodyPr wrap="square" lIns="0" tIns="0" rIns="0" bIns="0" anchor="t">
            <a:noAutofit/>
          </a:bodyPr>
          <a:lstStyle>
            <a:defPPr>
              <a:defRPr sz="1275" b="0">
                <a:solidFill>
                  <a:srgbClr val="526C6C"/>
                </a:solidFill>
                <a:latin typeface="Arial"/>
                <a:ea typeface="Arial"/>
                <a:cs typeface="Arial"/>
              </a:defRPr>
            </a:defPPr>
          </a:lstStyle>
          <a:p>
            <a:pPr>
              <a:defRPr sz="1275" b="0">
                <a:solidFill>
                  <a:srgbClr val="526C6C"/>
                </a:solidFill>
                <a:latin typeface="Arial"/>
                <a:ea typeface="Arial"/>
                <a:cs typeface="Arial"/>
              </a:defRPr>
            </a:pPr>
            <a:r>
              <a:rPr sz="1275" b="0">
                <a:solidFill>
                  <a:srgbClr val="526C6C"/>
                </a:solidFill>
                <a:latin typeface="Arial"/>
                <a:ea typeface="Arial"/>
                <a:cs typeface="Arial"/>
              </a:rPr>
              <a:t>05</a:t>
            </a:r>
          </a:p>
        </p:txBody>
      </p:sp>
      <p:sp>
        <p:nvSpPr>
          <p:cNvPr id="3" name="Selection rationale based on MediMap requirem">
            <a:extLst>
              <a:ext uri="{FF2B5EF4-FFF2-40B4-BE49-F238E27FC236}">
                <a16:creationId xmlns:a16="http://schemas.microsoft.com/office/drawing/2014/main" id="{FFB8C312-F538-4D7A-AB16-E83A33F75DD0}"/>
              </a:ext>
            </a:extLst>
          </p:cNvPr>
          <p:cNvSpPr>
            <a:spLocks noGrp="1"/>
          </p:cNvSpPr>
          <p:nvPr/>
        </p:nvSpPr>
        <p:spPr>
          <a:xfrm>
            <a:off x="609600" y="1362075"/>
            <a:ext cx="10858500" cy="419100"/>
          </a:xfrm>
          <a:prstGeom prst="rect">
            <a:avLst/>
          </a:prstGeom>
          <a:noFill/>
          <a:ln w="0">
            <a:noFill/>
          </a:ln>
        </p:spPr>
        <p:txBody>
          <a:bodyPr wrap="square" lIns="0" tIns="0" rIns="0" bIns="0" anchor="t">
            <a:noAutofit/>
          </a:bodyPr>
          <a:lstStyle>
            <a:defPPr>
              <a:defRPr sz="1950" b="0">
                <a:solidFill>
                  <a:srgbClr val="087E80"/>
                </a:solidFill>
                <a:latin typeface="Arial"/>
                <a:ea typeface="Arial"/>
                <a:cs typeface="Arial"/>
              </a:defRPr>
            </a:defPPr>
          </a:lstStyle>
          <a:p>
            <a:pPr>
              <a:defRPr sz="1950" b="0">
                <a:solidFill>
                  <a:srgbClr val="087E80"/>
                </a:solidFill>
                <a:latin typeface="Arial"/>
                <a:ea typeface="Arial"/>
                <a:cs typeface="Arial"/>
              </a:defRPr>
            </a:pPr>
            <a:r>
              <a:rPr sz="1950" b="0">
                <a:solidFill>
                  <a:srgbClr val="087E80"/>
                </a:solidFill>
                <a:latin typeface="Arial"/>
                <a:ea typeface="Arial"/>
                <a:cs typeface="Arial"/>
              </a:rPr>
              <a:t>Selection rationale based on MediMap requirements</a:t>
            </a:r>
          </a:p>
        </p:txBody>
      </p:sp>
      <p:graphicFrame>
        <p:nvGraphicFramePr>
          <p:cNvPr id="4" name="Table 3">
            <a:extLst>
              <a:ext uri="{FF2B5EF4-FFF2-40B4-BE49-F238E27FC236}">
                <a16:creationId xmlns:a16="http://schemas.microsoft.com/office/drawing/2014/main" id="{AE7B659E-901D-452C-8A5A-8874428ACFC9}"/>
              </a:ext>
            </a:extLst>
          </p:cNvPr>
          <p:cNvGraphicFramePr/>
          <p:nvPr/>
        </p:nvGraphicFramePr>
        <p:xfrm>
          <a:off x="609600" y="2009775"/>
          <a:ext cx="10972800" cy="3486152"/>
        </p:xfrm>
        <a:graphic>
          <a:graphicData uri="http://schemas.openxmlformats.org/drawingml/2006/table">
            <a:tbl>
              <a:tblPr/>
              <a:tblGrid>
                <a:gridCol w="2743200">
                  <a:extLst>
                    <a:ext uri="{9D8B030D-6E8A-4147-A177-3AD203B41FA5}">
                      <a16:colId xmlns:a16="http://schemas.microsoft.com/office/drawing/2014/main" val="20000"/>
                    </a:ext>
                  </a:extLst>
                </a:gridCol>
                <a:gridCol w="2733675">
                  <a:extLst>
                    <a:ext uri="{9D8B030D-6E8A-4147-A177-3AD203B41FA5}">
                      <a16:colId xmlns:a16="http://schemas.microsoft.com/office/drawing/2014/main" val="20001"/>
                    </a:ext>
                  </a:extLst>
                </a:gridCol>
                <a:gridCol w="5495925">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Selected choice</a:t>
                      </a:r>
                    </a:p>
                  </a:txBody>
                  <a:tcPr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23D3D"/>
                    </a:solidFill>
                  </a:tcPr>
                </a:tc>
                <a:tc>
                  <a:txBody>
                    <a:bodyPr/>
                    <a:lstStyle/>
                    <a:p>
                      <a:r>
                        <a:rPr sz="1500" b="1">
                          <a:solidFill>
                            <a:srgbClr val="FFFFFF"/>
                          </a:solidFill>
                          <a:latin typeface="Arial"/>
                          <a:ea typeface="Arial"/>
                          <a:cs typeface="Arial"/>
                        </a:rPr>
                        <a:t>Comparison option</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123D3D"/>
                    </a:solidFill>
                  </a:tcPr>
                </a:tc>
                <a:tc>
                  <a:txBody>
                    <a:bodyPr/>
                    <a:lstStyle/>
                    <a:p>
                      <a:r>
                        <a:rPr sz="1500" b="1">
                          <a:solidFill>
                            <a:srgbClr val="FFFFFF"/>
                          </a:solidFill>
                          <a:latin typeface="Arial"/>
                          <a:ea typeface="Arial"/>
                          <a:cs typeface="Arial"/>
                        </a:rPr>
                        <a:t>Reason for this project</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123D3D"/>
                    </a:solidFill>
                  </a:tcPr>
                </a:tc>
                <a:extLst>
                  <a:ext uri="{0D108BD9-81ED-4DB2-BD59-A6C34878D82A}">
                    <a16:rowId xmlns:a16="http://schemas.microsoft.com/office/drawing/2014/main" val="10000"/>
                  </a:ext>
                </a:extLst>
              </a:tr>
              <a:tr h="747713">
                <a:tc>
                  <a:txBody>
                    <a:bodyPr/>
                    <a:lstStyle/>
                    <a:p>
                      <a:r>
                        <a:rPr sz="1725" b="0">
                          <a:solidFill>
                            <a:srgbClr val="123D3D"/>
                          </a:solidFill>
                          <a:latin typeface="Arial"/>
                          <a:ea typeface="Arial"/>
                          <a:cs typeface="Arial"/>
                        </a:rPr>
                        <a:t>React + TanStack Start</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dirty="0">
                          <a:solidFill>
                            <a:srgbClr val="123D3D"/>
                          </a:solidFill>
                          <a:latin typeface="Arial"/>
                          <a:ea typeface="Arial"/>
                          <a:cs typeface="Arial"/>
                        </a:rPr>
                        <a:t>Browser-only React SPA</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a:solidFill>
                            <a:srgbClr val="123D3D"/>
                          </a:solidFill>
                          <a:latin typeface="Arial"/>
                          <a:ea typeface="Arial"/>
                          <a:cs typeface="Arial"/>
                        </a:rPr>
                        <a:t>Server rendering suits public service pages.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extLst>
                  <a:ext uri="{0D108BD9-81ED-4DB2-BD59-A6C34878D82A}">
                    <a16:rowId xmlns:a16="http://schemas.microsoft.com/office/drawing/2014/main" val="10001"/>
                  </a:ext>
                </a:extLst>
              </a:tr>
              <a:tr h="747713">
                <a:tc>
                  <a:txBody>
                    <a:bodyPr/>
                    <a:lstStyle/>
                    <a:p>
                      <a:r>
                        <a:rPr sz="1725" b="0">
                          <a:solidFill>
                            <a:srgbClr val="123D3D"/>
                          </a:solidFill>
                          <a:latin typeface="Arial"/>
                          <a:ea typeface="Arial"/>
                          <a:cs typeface="Arial"/>
                        </a:rPr>
                        <a:t>Cloudflare Workers</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a:solidFill>
                            <a:srgbClr val="123D3D"/>
                          </a:solidFill>
                          <a:latin typeface="Arial"/>
                          <a:ea typeface="Arial"/>
                          <a:cs typeface="Arial"/>
                        </a:rPr>
                        <a:t>Separate Node.js server</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a:solidFill>
                            <a:srgbClr val="123D3D"/>
                          </a:solidFill>
                          <a:latin typeface="Arial"/>
                          <a:ea typeface="Arial"/>
                          <a:cs typeface="Arial"/>
                        </a:rPr>
                        <a:t>One deployment for UI and backend modules.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747713">
                <a:tc>
                  <a:txBody>
                    <a:bodyPr/>
                    <a:lstStyle/>
                    <a:p>
                      <a:r>
                        <a:rPr sz="1725" b="0">
                          <a:solidFill>
                            <a:srgbClr val="123D3D"/>
                          </a:solidFill>
                          <a:latin typeface="Arial"/>
                          <a:ea typeface="Arial"/>
                          <a:cs typeface="Arial"/>
                        </a:rPr>
                        <a:t>Cloudflare D1</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a:solidFill>
                            <a:srgbClr val="123D3D"/>
                          </a:solidFill>
                          <a:latin typeface="Arial"/>
                          <a:ea typeface="Arial"/>
                          <a:cs typeface="Arial"/>
                        </a:rPr>
                        <a:t>Document database</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tc>
                  <a:txBody>
                    <a:bodyPr/>
                    <a:lstStyle/>
                    <a:p>
                      <a:r>
                        <a:rPr sz="1725" b="0">
                          <a:solidFill>
                            <a:srgbClr val="123D3D"/>
                          </a:solidFill>
                          <a:latin typeface="Arial"/>
                          <a:ea typeface="Arial"/>
                          <a:cs typeface="Arial"/>
                        </a:rPr>
                        <a:t>SQL represents relationships between records.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EF7F5"/>
                    </a:solidFill>
                  </a:tcPr>
                </a:tc>
                <a:extLst>
                  <a:ext uri="{0D108BD9-81ED-4DB2-BD59-A6C34878D82A}">
                    <a16:rowId xmlns:a16="http://schemas.microsoft.com/office/drawing/2014/main" val="10003"/>
                  </a:ext>
                </a:extLst>
              </a:tr>
              <a:tr h="747713">
                <a:tc>
                  <a:txBody>
                    <a:bodyPr/>
                    <a:lstStyle/>
                    <a:p>
                      <a:r>
                        <a:rPr sz="1725" b="0">
                          <a:solidFill>
                            <a:srgbClr val="123D3D"/>
                          </a:solidFill>
                          <a:latin typeface="Arial"/>
                          <a:ea typeface="Arial"/>
                          <a:cs typeface="Arial"/>
                        </a:rPr>
                        <a:t>Direct prepared SQL</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a:solidFill>
                            <a:srgbClr val="123D3D"/>
                          </a:solidFill>
                          <a:latin typeface="Arial"/>
                          <a:ea typeface="Arial"/>
                          <a:cs typeface="Arial"/>
                        </a:rPr>
                        <a:t>ORM abstraction</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dirty="0">
                          <a:solidFill>
                            <a:srgbClr val="123D3D"/>
                          </a:solidFill>
                          <a:latin typeface="Arial"/>
                          <a:ea typeface="Arial"/>
                          <a:cs typeface="Arial"/>
                        </a:rPr>
                        <a:t>Explicit queries and migrations suit the scope.</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Trade-offs: verify Workers compatibility, D1 ">
            <a:extLst>
              <a:ext uri="{FF2B5EF4-FFF2-40B4-BE49-F238E27FC236}">
                <a16:creationId xmlns:a16="http://schemas.microsoft.com/office/drawing/2014/main" id="{9ECA7642-17AE-41AF-B420-AB8050A944E5}"/>
              </a:ext>
            </a:extLst>
          </p:cNvPr>
          <p:cNvSpPr>
            <a:spLocks noGrp="1"/>
          </p:cNvSpPr>
          <p:nvPr/>
        </p:nvSpPr>
        <p:spPr>
          <a:xfrm>
            <a:off x="609600" y="5800725"/>
            <a:ext cx="10972800" cy="447675"/>
          </a:xfrm>
          <a:prstGeom prst="rect">
            <a:avLst/>
          </a:prstGeom>
          <a:noFill/>
          <a:ln w="0">
            <a:noFill/>
          </a:ln>
        </p:spPr>
        <p:txBody>
          <a:bodyPr wrap="square" lIns="0" tIns="0" rIns="0" bIns="0" anchor="t">
            <a:noAutofit/>
          </a:bodyPr>
          <a:lstStyle>
            <a:defPPr>
              <a:defRPr sz="1650" b="0">
                <a:solidFill>
                  <a:srgbClr val="526C6C"/>
                </a:solidFill>
                <a:latin typeface="Arial"/>
                <a:ea typeface="Arial"/>
                <a:cs typeface="Arial"/>
              </a:defRPr>
            </a:defPPr>
          </a:lstStyle>
          <a:p>
            <a:pPr>
              <a:defRPr sz="1650" b="0">
                <a:solidFill>
                  <a:srgbClr val="526C6C"/>
                </a:solidFill>
                <a:latin typeface="Arial"/>
                <a:ea typeface="Arial"/>
                <a:cs typeface="Arial"/>
              </a:defRPr>
            </a:pPr>
            <a:r>
              <a:rPr sz="1650" b="0" dirty="0">
                <a:solidFill>
                  <a:srgbClr val="526C6C"/>
                </a:solidFill>
                <a:latin typeface="Arial"/>
                <a:ea typeface="Arial"/>
                <a:cs typeface="Arial"/>
              </a:rPr>
              <a:t>Trade-offs: verify Workers compatibility, D1 limits and mapping costs before implementation.</a:t>
            </a:r>
          </a:p>
        </p:txBody>
      </p:sp>
    </p:spTree>
    <p:extLst>
      <p:ext uri="{BB962C8B-B14F-4D97-AF65-F5344CB8AC3E}">
        <p14:creationId xmlns:p14="http://schemas.microsoft.com/office/powerpoint/2010/main" val="390241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3D3E"/>
        </a:solidFill>
        <a:effectLst/>
      </p:bgPr>
    </p:bg>
    <p:spTree>
      <p:nvGrpSpPr>
        <p:cNvPr id="1" name=""/>
        <p:cNvGrpSpPr/>
        <p:nvPr/>
      </p:nvGrpSpPr>
      <p:grpSpPr>
        <a:xfrm>
          <a:off x="0" y="0"/>
          <a:ext cx="0" cy="0"/>
          <a:chOff x="0" y="0"/>
          <a:chExt cx="0" cy="0"/>
        </a:xfrm>
      </p:grpSpPr>
      <p:sp>
        <p:nvSpPr>
          <p:cNvPr id="9" name="Proof of commits">
            <a:extLst>
              <a:ext uri="{FF2B5EF4-FFF2-40B4-BE49-F238E27FC236}">
                <a16:creationId xmlns:a16="http://schemas.microsoft.com/office/drawing/2014/main" id="{0B49059A-43FC-4392-A38E-93CE04004AE8}"/>
              </a:ext>
            </a:extLst>
          </p:cNvPr>
          <p:cNvSpPr>
            <a:spLocks noGrp="1"/>
          </p:cNvSpPr>
          <p:nvPr/>
        </p:nvSpPr>
        <p:spPr>
          <a:xfrm>
            <a:off x="609600" y="495300"/>
            <a:ext cx="10972800" cy="742950"/>
          </a:xfrm>
          <a:prstGeom prst="rect">
            <a:avLst/>
          </a:prstGeom>
          <a:noFill/>
          <a:ln w="0">
            <a:noFill/>
          </a:ln>
        </p:spPr>
        <p:txBody>
          <a:bodyPr wrap="square" lIns="0" tIns="0" rIns="0" bIns="0" anchor="t">
            <a:noAutofit/>
          </a:bodyPr>
          <a:lstStyle>
            <a:defPPr>
              <a:defRPr sz="3450" b="1">
                <a:solidFill>
                  <a:srgbClr val="FFFFFF"/>
                </a:solidFill>
                <a:latin typeface="Arial"/>
                <a:ea typeface="Arial"/>
                <a:cs typeface="Arial"/>
              </a:defRPr>
            </a:defPPr>
          </a:lstStyle>
          <a:p>
            <a:pPr>
              <a:defRPr sz="3450" b="1">
                <a:solidFill>
                  <a:srgbClr val="FFFFFF"/>
                </a:solidFill>
                <a:latin typeface="Arial"/>
                <a:ea typeface="Arial"/>
                <a:cs typeface="Arial"/>
              </a:defRPr>
            </a:pPr>
            <a:r>
              <a:rPr sz="3450" b="1">
                <a:solidFill>
                  <a:srgbClr val="FFFFFF"/>
                </a:solidFill>
                <a:latin typeface="Arial"/>
                <a:ea typeface="Arial"/>
                <a:cs typeface="Arial"/>
              </a:rPr>
              <a:t>Proof of commits</a:t>
            </a:r>
          </a:p>
        </p:txBody>
      </p:sp>
      <p:sp>
        <p:nvSpPr>
          <p:cNvPr id="2" name="07">
            <a:extLst>
              <a:ext uri="{FF2B5EF4-FFF2-40B4-BE49-F238E27FC236}">
                <a16:creationId xmlns:a16="http://schemas.microsoft.com/office/drawing/2014/main" id="{5A1AF2FA-B874-48C7-BA73-BFF79E1214C4}"/>
              </a:ext>
            </a:extLst>
          </p:cNvPr>
          <p:cNvSpPr>
            <a:spLocks noGrp="1"/>
          </p:cNvSpPr>
          <p:nvPr/>
        </p:nvSpPr>
        <p:spPr>
          <a:xfrm>
            <a:off x="11049000" y="6296025"/>
            <a:ext cx="533400" cy="228600"/>
          </a:xfrm>
          <a:prstGeom prst="rect">
            <a:avLst/>
          </a:prstGeom>
          <a:noFill/>
          <a:ln w="0">
            <a:noFill/>
          </a:ln>
        </p:spPr>
        <p:txBody>
          <a:bodyPr wrap="square" lIns="0" tIns="0" rIns="0" bIns="0" anchor="t">
            <a:noAutofit/>
          </a:bodyPr>
          <a:lstStyle>
            <a:defPPr>
              <a:defRPr sz="1275" b="0">
                <a:solidFill>
                  <a:srgbClr val="B4E5D6"/>
                </a:solidFill>
                <a:latin typeface="Arial"/>
                <a:ea typeface="Arial"/>
                <a:cs typeface="Arial"/>
              </a:defRPr>
            </a:defPPr>
          </a:lstStyle>
          <a:p>
            <a:pPr>
              <a:defRPr sz="1275" b="0">
                <a:solidFill>
                  <a:srgbClr val="B4E5D6"/>
                </a:solidFill>
                <a:latin typeface="Arial"/>
                <a:ea typeface="Arial"/>
                <a:cs typeface="Arial"/>
              </a:defRPr>
            </a:pPr>
            <a:r>
              <a:rPr sz="1275" b="0">
                <a:solidFill>
                  <a:srgbClr val="B4E5D6"/>
                </a:solidFill>
                <a:latin typeface="Arial"/>
                <a:ea typeface="Arial"/>
                <a:cs typeface="Arial"/>
              </a:rPr>
              <a:t>07</a:t>
            </a:r>
          </a:p>
        </p:txBody>
      </p:sp>
      <p:sp>
        <p:nvSpPr>
          <p:cNvPr id="6" name="The latest commit contains the PRD, six conte">
            <a:extLst>
              <a:ext uri="{FF2B5EF4-FFF2-40B4-BE49-F238E27FC236}">
                <a16:creationId xmlns:a16="http://schemas.microsoft.com/office/drawing/2014/main" id="{E0AF4A8D-CEC4-45DB-AB85-3023346C1922}"/>
              </a:ext>
            </a:extLst>
          </p:cNvPr>
          <p:cNvSpPr>
            <a:spLocks noGrp="1"/>
          </p:cNvSpPr>
          <p:nvPr/>
        </p:nvSpPr>
        <p:spPr>
          <a:xfrm>
            <a:off x="609600" y="5791200"/>
            <a:ext cx="8172450" cy="733425"/>
          </a:xfrm>
          <a:prstGeom prst="rect">
            <a:avLst/>
          </a:prstGeom>
          <a:noFill/>
          <a:ln w="0">
            <a:noFill/>
          </a:ln>
        </p:spPr>
        <p:txBody>
          <a:bodyPr wrap="square" lIns="0" tIns="0" rIns="0" bIns="0" anchor="t">
            <a:noAutofit/>
          </a:bodyPr>
          <a:lstStyle>
            <a:defPPr>
              <a:defRPr sz="1950" b="0">
                <a:solidFill>
                  <a:srgbClr val="B4E5D6"/>
                </a:solidFill>
                <a:latin typeface="Arial"/>
                <a:ea typeface="Arial"/>
                <a:cs typeface="Arial"/>
              </a:defRPr>
            </a:defPPr>
          </a:lstStyle>
          <a:p>
            <a:pPr>
              <a:defRPr sz="1950" b="0">
                <a:solidFill>
                  <a:srgbClr val="B4E5D6"/>
                </a:solidFill>
                <a:latin typeface="Arial"/>
                <a:ea typeface="Arial"/>
                <a:cs typeface="Arial"/>
              </a:defRPr>
            </a:pPr>
            <a:r>
              <a:rPr sz="1950" b="0" dirty="0">
                <a:solidFill>
                  <a:srgbClr val="B4E5D6"/>
                </a:solidFill>
                <a:latin typeface="Arial"/>
                <a:ea typeface="Arial"/>
                <a:cs typeface="Arial"/>
              </a:rPr>
              <a:t>The latest commit contains the PRD, six context files and agent guidance.</a:t>
            </a:r>
          </a:p>
        </p:txBody>
      </p:sp>
      <p:sp>
        <p:nvSpPr>
          <p:cNvPr id="7" name="View initial commit">
            <a:extLst>
              <a:ext uri="{FF2B5EF4-FFF2-40B4-BE49-F238E27FC236}">
                <a16:creationId xmlns:a16="http://schemas.microsoft.com/office/drawing/2014/main" id="{810655A6-234D-454F-8EB9-35D673C3E850}"/>
              </a:ext>
            </a:extLst>
          </p:cNvPr>
          <p:cNvSpPr>
            <a:spLocks noGrp="1"/>
          </p:cNvSpPr>
          <p:nvPr/>
        </p:nvSpPr>
        <p:spPr>
          <a:xfrm>
            <a:off x="609600" y="5288702"/>
            <a:ext cx="3714750" cy="285750"/>
          </a:xfrm>
          <a:prstGeom prst="rect">
            <a:avLst/>
          </a:prstGeom>
          <a:noFill/>
          <a:ln w="0">
            <a:noFill/>
          </a:ln>
        </p:spPr>
        <p:txBody>
          <a:bodyPr wrap="square" lIns="0" tIns="0" rIns="0" bIns="0" anchor="t">
            <a:noAutofit/>
          </a:bodyPr>
          <a:lstStyle>
            <a:defPPr>
              <a:defRPr sz="1425" b="0">
                <a:solidFill>
                  <a:srgbClr val="B4E5D6"/>
                </a:solidFill>
                <a:latin typeface="Arial"/>
                <a:ea typeface="Arial"/>
                <a:cs typeface="Arial"/>
              </a:defRPr>
            </a:defPPr>
          </a:lstStyle>
          <a:p>
            <a:pPr>
              <a:defRPr sz="1425" b="0">
                <a:solidFill>
                  <a:srgbClr val="B4E5D6"/>
                </a:solidFill>
                <a:latin typeface="Arial"/>
                <a:ea typeface="Arial"/>
                <a:cs typeface="Arial"/>
              </a:defRPr>
            </a:pPr>
            <a:r>
              <a:rPr sz="1425" b="0" dirty="0">
                <a:solidFill>
                  <a:srgbClr val="B4E5D6"/>
                </a:solidFill>
                <a:latin typeface="Arial"/>
                <a:ea typeface="Arial"/>
                <a:cs typeface="Arial"/>
                <a:hlinkClick r:id="rId3"/>
              </a:rPr>
              <a:t>View initial commit</a:t>
            </a:r>
          </a:p>
        </p:txBody>
      </p:sp>
      <p:sp>
        <p:nvSpPr>
          <p:cNvPr id="8" name="View requirements commit">
            <a:extLst>
              <a:ext uri="{FF2B5EF4-FFF2-40B4-BE49-F238E27FC236}">
                <a16:creationId xmlns:a16="http://schemas.microsoft.com/office/drawing/2014/main" id="{342486A3-52EE-4901-9285-4FFDA60B0D73}"/>
              </a:ext>
            </a:extLst>
          </p:cNvPr>
          <p:cNvSpPr>
            <a:spLocks noGrp="1"/>
          </p:cNvSpPr>
          <p:nvPr/>
        </p:nvSpPr>
        <p:spPr>
          <a:xfrm>
            <a:off x="4419600" y="5288702"/>
            <a:ext cx="3714750" cy="285750"/>
          </a:xfrm>
          <a:prstGeom prst="rect">
            <a:avLst/>
          </a:prstGeom>
          <a:noFill/>
          <a:ln w="0">
            <a:noFill/>
          </a:ln>
        </p:spPr>
        <p:txBody>
          <a:bodyPr wrap="square" lIns="0" tIns="0" rIns="0" bIns="0" anchor="t">
            <a:noAutofit/>
          </a:bodyPr>
          <a:lstStyle>
            <a:defPPr>
              <a:defRPr sz="1425" b="0">
                <a:solidFill>
                  <a:srgbClr val="B4E5D6"/>
                </a:solidFill>
                <a:latin typeface="Arial"/>
                <a:ea typeface="Arial"/>
                <a:cs typeface="Arial"/>
              </a:defRPr>
            </a:defPPr>
          </a:lstStyle>
          <a:p>
            <a:pPr>
              <a:defRPr sz="1425" b="0">
                <a:solidFill>
                  <a:srgbClr val="B4E5D6"/>
                </a:solidFill>
                <a:latin typeface="Arial"/>
                <a:ea typeface="Arial"/>
                <a:cs typeface="Arial"/>
              </a:defRPr>
            </a:pPr>
            <a:r>
              <a:rPr sz="1425" b="0" dirty="0">
                <a:solidFill>
                  <a:srgbClr val="B4E5D6"/>
                </a:solidFill>
                <a:latin typeface="Arial"/>
                <a:ea typeface="Arial"/>
                <a:cs typeface="Arial"/>
                <a:hlinkClick r:id="rId4"/>
              </a:rPr>
              <a:t>View requirements commit</a:t>
            </a:r>
          </a:p>
        </p:txBody>
      </p:sp>
      <p:pic>
        <p:nvPicPr>
          <p:cNvPr id="11" name="Picture 10">
            <a:extLst>
              <a:ext uri="{FF2B5EF4-FFF2-40B4-BE49-F238E27FC236}">
                <a16:creationId xmlns:a16="http://schemas.microsoft.com/office/drawing/2014/main" id="{8244F139-D837-C682-F902-7EE85282C5E2}"/>
              </a:ext>
            </a:extLst>
          </p:cNvPr>
          <p:cNvPicPr>
            <a:picLocks noChangeAspect="1"/>
          </p:cNvPicPr>
          <p:nvPr/>
        </p:nvPicPr>
        <p:blipFill>
          <a:blip r:embed="rId5"/>
          <a:stretch>
            <a:fillRect/>
          </a:stretch>
        </p:blipFill>
        <p:spPr>
          <a:xfrm>
            <a:off x="0" y="1719370"/>
            <a:ext cx="12192000" cy="3419260"/>
          </a:xfrm>
          <a:prstGeom prst="rect">
            <a:avLst/>
          </a:prstGeom>
        </p:spPr>
      </p:pic>
    </p:spTree>
    <p:extLst>
      <p:ext uri="{BB962C8B-B14F-4D97-AF65-F5344CB8AC3E}">
        <p14:creationId xmlns:p14="http://schemas.microsoft.com/office/powerpoint/2010/main" val="21691365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817</Words>
  <Application>Microsoft Office PowerPoint</Application>
  <DocSecurity>0</DocSecurity>
  <PresentationFormat>Widescreen</PresentationFormat>
  <Paragraphs>91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Nafiur Rahman</cp:lastModifiedBy>
  <cp:revision>13</cp:revision>
  <dcterms:created xsi:type="dcterms:W3CDTF">2026-10-13T16:57:27Z</dcterms:created>
  <dcterms:modified xsi:type="dcterms:W3CDTF">2026-10-13T17:38:17Z</dcterms:modified>
</cp:coreProperties>
</file>